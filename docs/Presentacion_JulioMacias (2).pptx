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56" r:id="rId3"/>
    <p:sldId id="289" r:id="rId4"/>
    <p:sldId id="294" r:id="rId5"/>
    <p:sldId id="269" r:id="rId6"/>
    <p:sldId id="286" r:id="rId7"/>
    <p:sldId id="295" r:id="rId8"/>
    <p:sldId id="287" r:id="rId9"/>
    <p:sldId id="288" r:id="rId10"/>
    <p:sldId id="285" r:id="rId11"/>
    <p:sldId id="283" r:id="rId12"/>
    <p:sldId id="284" r:id="rId13"/>
    <p:sldId id="272" r:id="rId14"/>
    <p:sldId id="271" r:id="rId15"/>
    <p:sldId id="292" r:id="rId16"/>
    <p:sldId id="275" r:id="rId17"/>
    <p:sldId id="277" r:id="rId18"/>
    <p:sldId id="278" r:id="rId19"/>
    <p:sldId id="279" r:id="rId20"/>
    <p:sldId id="291" r:id="rId21"/>
    <p:sldId id="273" r:id="rId22"/>
    <p:sldId id="265" r:id="rId23"/>
  </p:sldIdLst>
  <p:sldSz cx="9144000" cy="6858000" type="screen4x3"/>
  <p:notesSz cx="6797675" cy="987425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2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77" autoAdjust="0"/>
  </p:normalViewPr>
  <p:slideViewPr>
    <p:cSldViewPr snapToGrid="0" showGuides="1">
      <p:cViewPr varScale="1">
        <p:scale>
          <a:sx n="78" d="100"/>
          <a:sy n="78" d="100"/>
        </p:scale>
        <p:origin x="173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96" y="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0F87E73C-D406-41F7-B2FD-3639FFA6F1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B15F4C6-E824-448A-AB55-FB113A7D87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4E54281C-FB90-4EEC-B693-B945F7DCAE3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7844B6D-0752-432C-9102-5CA9E695512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B9661E7-8F61-4AD6-AF66-5D1CBC89267A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15D9F860-7F30-4269-AFA7-BCAD7B4ADB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A83325F3-08CB-498E-9C92-3B30321A64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BFF7730-6C01-44F0-A3AC-A1309F25E796}" type="datetimeFigureOut">
              <a:rPr lang="es-ES_tradnl"/>
              <a:pPr>
                <a:defRPr/>
              </a:pPr>
              <a:t>02/12/2025</a:t>
            </a:fld>
            <a:endParaRPr lang="es-ES_tradnl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E9E19DB-7767-4110-B872-4655D2C91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F669D235-92EA-4740-8701-87F8918D0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C472F6FE-2662-42D4-9E7E-45E2A5953B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D0D6F852-7B54-412D-9278-C9E1012E5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D8FD22-7AFD-48F0-A42F-4DC8F15BD7E7}" type="slidenum">
              <a:rPr lang="es-ES_tradnl"/>
              <a:pPr>
                <a:defRPr/>
              </a:pPr>
              <a:t>‹#›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D8FD22-7AFD-48F0-A42F-4DC8F15BD7E7}" type="slidenum">
              <a:rPr lang="es-ES_tradnl" smtClean="0"/>
              <a:pPr>
                <a:defRPr/>
              </a:pPr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5092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6D01-EFE7-ECBA-EF3C-6DE3BFC3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90753-7B18-B5FE-CFB3-B8C039748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7333C-03A0-70D7-7F24-32692D202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D0F47-A55F-BB36-D5ED-2A80AE8B6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D8FD22-7AFD-48F0-A42F-4DC8F15BD7E7}" type="slidenum">
              <a:rPr lang="es-ES_tradnl" smtClean="0"/>
              <a:pPr>
                <a:defRPr/>
              </a:pPr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975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D8FD22-7AFD-48F0-A42F-4DC8F15BD7E7}" type="slidenum">
              <a:rPr lang="es-ES_tradnl" smtClean="0"/>
              <a:pPr>
                <a:defRPr/>
              </a:pPr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0616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D8FD22-7AFD-48F0-A42F-4DC8F15BD7E7}" type="slidenum">
              <a:rPr lang="es-ES_tradnl" smtClean="0"/>
              <a:pPr>
                <a:defRPr/>
              </a:pPr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15622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0404C-FB72-F63F-AD16-A3B89F39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EEBF1-029C-79B1-76C2-3184C7A3E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4D1DA-71A3-40D0-5125-C223C5623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9C43-D710-0194-9795-A0D660615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D8FD22-7AFD-48F0-A42F-4DC8F15BD7E7}" type="slidenum">
              <a:rPr lang="es-ES_tradnl" smtClean="0"/>
              <a:pPr>
                <a:defRPr/>
              </a:pPr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1325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6776-5D53-2E57-2650-CD9975D2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8829E-D416-E014-9299-580DC8D52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44809-3832-A609-8667-7B9EC065A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F8AE3-6280-CA34-A70D-052AEF972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D8FD22-7AFD-48F0-A42F-4DC8F15BD7E7}" type="slidenum">
              <a:rPr lang="es-ES_tradnl" smtClean="0"/>
              <a:pPr>
                <a:defRPr/>
              </a:pPr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4768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350FE9D-EA34-4ECE-86F2-B22FB54F86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5BFDC50-6843-42E5-979E-CCA032D2AF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BE7F9B8-7706-4A5C-8A09-CE89FB712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67023-06E7-4F6E-AB96-5B38D59BC7A6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7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B61A57BC-9F2B-47D6-B91E-C874D38C3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82650"/>
          </a:xfrm>
          <a:prstGeom prst="rect">
            <a:avLst/>
          </a:prstGeom>
          <a:solidFill>
            <a:srgbClr val="002B5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s-ES_tradnl" altLang="es-E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350FE9D-EA34-4ECE-86F2-B22FB54F86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5BFDC50-6843-42E5-979E-CCA032D2AF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BE7F9B8-7706-4A5C-8A09-CE89FB712A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F52E657-2819-4FFC-AA88-37A3E7C03487}" type="slidenum">
              <a:rPr lang="es-ES"/>
              <a:pPr>
                <a:defRPr/>
              </a:pPr>
              <a:t>‹#›</a:t>
            </a:fld>
            <a:endParaRPr lang="es-ES"/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D44DC259-ECC9-4363-B079-D6D7E2B4C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4800"/>
            <a:ext cx="9144000" cy="203200"/>
          </a:xfrm>
          <a:prstGeom prst="rect">
            <a:avLst/>
          </a:prstGeom>
          <a:solidFill>
            <a:srgbClr val="002B5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s-ES_tradnl" altLang="es-ES"/>
          </a:p>
        </p:txBody>
      </p:sp>
      <p:sp>
        <p:nvSpPr>
          <p:cNvPr id="1033" name="Text Box 10">
            <a:extLst>
              <a:ext uri="{FF2B5EF4-FFF2-40B4-BE49-F238E27FC236}">
                <a16:creationId xmlns:a16="http://schemas.microsoft.com/office/drawing/2014/main" id="{0641648E-3D5B-4703-B728-07327C151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6640513"/>
            <a:ext cx="9144000" cy="230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900" dirty="0">
                <a:solidFill>
                  <a:schemeClr val="bg1"/>
                </a:solidFill>
              </a:rPr>
              <a:t>SIMULACIÓN Y EVALUACIÓN DE LA MODULACIÓN ORTOGONAL EN TIEMPO, FRECUENCIA Y ESPACIO EN ESCENARIOS DE ALTA MOVILIDAD</a:t>
            </a:r>
            <a:endParaRPr lang="es-ES" altLang="es-ES" sz="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35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9188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25347" y="25279"/>
            <a:ext cx="2300754" cy="82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8.jpe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image" Target="../media/image24.png"/><Relationship Id="rId4" Type="http://schemas.openxmlformats.org/officeDocument/2006/relationships/image" Target="../media/image8.jpe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6988" y="1713076"/>
            <a:ext cx="9144000" cy="181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latin typeface="Arial Black" panose="020B0A04020102020204" pitchFamily="34" charset="0"/>
              </a:rPr>
              <a:t>SIMULACIÓN Y </a:t>
            </a:r>
            <a:r>
              <a:rPr lang="es-ES" sz="2900" dirty="0">
                <a:latin typeface="Arial Black" panose="020B0A04020102020204" pitchFamily="34" charset="0"/>
              </a:rPr>
              <a:t>EVALUACIÓN</a:t>
            </a:r>
            <a:r>
              <a:rPr lang="es-ES" sz="2800" dirty="0">
                <a:latin typeface="Arial Black" panose="020B0A04020102020204" pitchFamily="34" charset="0"/>
              </a:rPr>
              <a:t> DE LA MODULACIÓN ORTOGONAL EN TIEMPO, FRECUENCIA Y ESPACIO EN ESCENARIOS DE ALTA MOVILIDAD</a:t>
            </a:r>
            <a:endParaRPr lang="en-US" altLang="es-ES" sz="2900" b="1" dirty="0">
              <a:latin typeface="Arial Black" panose="020B0A04020102020204" pitchFamily="34" charset="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48480" y="238702"/>
            <a:ext cx="5843587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altLang="es-ES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Trabajo Fin de Grado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401763" y="4064019"/>
            <a:ext cx="6394450" cy="768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altLang="es-ES" sz="2300" b="1" dirty="0">
                <a:latin typeface="Arial Narrow" panose="020B0606020202030204" pitchFamily="34" charset="0"/>
              </a:rPr>
              <a:t>Realizado por: Julio Macías </a:t>
            </a:r>
            <a:r>
              <a:rPr lang="es-ES" altLang="es-ES" sz="2300" b="1" dirty="0" err="1">
                <a:latin typeface="Arial Narrow" panose="020B0606020202030204" pitchFamily="34" charset="0"/>
              </a:rPr>
              <a:t>Macías</a:t>
            </a:r>
            <a:r>
              <a:rPr lang="es-ES" altLang="es-ES" sz="2300" b="1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altLang="es-ES" sz="2300" b="1" dirty="0">
                <a:latin typeface="Arial Narrow" panose="020B0606020202030204" pitchFamily="34" charset="0"/>
              </a:rPr>
              <a:t>Dirigido por: Francisco Javier Martín Vega 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-818039" y="5235032"/>
            <a:ext cx="10780077" cy="5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es-ES" sz="1800" dirty="0">
                <a:latin typeface="Arial Narrow" panose="020B0606020202030204" pitchFamily="34" charset="0"/>
              </a:rPr>
              <a:t>Departamento de Ingeniería de Comunicaciones - UNIVERSIDAD DE MÁLAGA</a:t>
            </a: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n-US" altLang="es-ES" sz="1800" dirty="0">
                <a:latin typeface="Arial Narrow" panose="020B0606020202030204" pitchFamily="34" charset="0"/>
              </a:rPr>
              <a:t>Málaga, 11 de </a:t>
            </a:r>
            <a:r>
              <a:rPr lang="en-US" altLang="es-ES" sz="1800" dirty="0" err="1">
                <a:latin typeface="Arial Narrow" panose="020B0606020202030204" pitchFamily="34" charset="0"/>
              </a:rPr>
              <a:t>julio</a:t>
            </a:r>
            <a:r>
              <a:rPr lang="en-US" altLang="es-ES" sz="1800" dirty="0">
                <a:latin typeface="Arial Narrow" panose="020B0606020202030204" pitchFamily="34" charset="0"/>
              </a:rPr>
              <a:t> de 2025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615C01-354B-9C08-86E6-E08576EA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3686" y="6225932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/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/>
          <p:cNvSpPr txBox="1">
            <a:spLocks noChangeArrowheads="1"/>
          </p:cNvSpPr>
          <p:nvPr/>
        </p:nvSpPr>
        <p:spPr bwMode="auto">
          <a:xfrm>
            <a:off x="228600" y="2062163"/>
            <a:ext cx="7594600" cy="2702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 err="1">
                <a:latin typeface="Arial Narrow" panose="020B0606020202030204" pitchFamily="34" charset="0"/>
              </a:rPr>
              <a:t>Introduction</a:t>
            </a:r>
            <a:r>
              <a:rPr lang="es-ES" altLang="es-ES" b="1" dirty="0">
                <a:latin typeface="Arial Narrow" panose="020B0606020202030204" pitchFamily="34" charset="0"/>
              </a:rPr>
              <a:t> : </a:t>
            </a:r>
            <a:r>
              <a:rPr lang="es-ES" altLang="es-ES" b="1" dirty="0" err="1">
                <a:latin typeface="Arial Narrow" panose="020B0606020202030204" pitchFamily="34" charset="0"/>
              </a:rPr>
              <a:t>Motivation</a:t>
            </a:r>
            <a:r>
              <a:rPr lang="es-ES" altLang="es-ES" b="1" dirty="0">
                <a:latin typeface="Arial Narrow" panose="020B0606020202030204" pitchFamily="34" charset="0"/>
              </a:rPr>
              <a:t> and </a:t>
            </a:r>
            <a:r>
              <a:rPr lang="es-ES" altLang="es-ES" b="1" dirty="0" err="1">
                <a:latin typeface="Arial Narrow" panose="020B0606020202030204" pitchFamily="34" charset="0"/>
              </a:rPr>
              <a:t>Objectives</a:t>
            </a:r>
            <a:endParaRPr lang="es-ES" altLang="es-ES" b="1" dirty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Fundamentos OFDM y OTFS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Simulador : Canal Doppler, TDL y CDL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Conclusiones y líneas futuras</a:t>
            </a:r>
            <a:endParaRPr lang="en-029" altLang="es-ES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FB7C1D-6923-4B2A-31C3-5B1FBFC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0700" y="6223000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C790-71B3-CE35-7328-D9177C7E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88D7DB83-FEFE-D801-4DDC-388FBA717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277" y="180912"/>
            <a:ext cx="7645400" cy="1169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Introduction</a:t>
            </a: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 : </a:t>
            </a: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Motivation</a:t>
            </a: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 and </a:t>
            </a: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Objectives</a:t>
            </a:r>
            <a:endParaRPr lang="es-AR" altLang="es-E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AR" altLang="es-E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9D9C71D6-8812-480E-6D82-2097AD36C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209470"/>
            <a:ext cx="8001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/>
              <a:t>Introduction : Motivation and Objectives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C1436-1CA2-3BFB-AB30-D9D9CF7924EA}"/>
              </a:ext>
            </a:extLst>
          </p:cNvPr>
          <p:cNvSpPr txBox="1"/>
          <p:nvPr/>
        </p:nvSpPr>
        <p:spPr>
          <a:xfrm>
            <a:off x="2258167" y="1928060"/>
            <a:ext cx="45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ICI in OFDM high mobility</a:t>
            </a:r>
            <a:endParaRPr lang="en-GB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es-ES" b="1" dirty="0">
              <a:solidFill>
                <a:srgbClr val="00206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7238" name="Slide Number Placeholder 7237">
            <a:extLst>
              <a:ext uri="{FF2B5EF4-FFF2-40B4-BE49-F238E27FC236}">
                <a16:creationId xmlns:a16="http://schemas.microsoft.com/office/drawing/2014/main" id="{353F3262-E8D6-E75C-9B59-19EF986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3</a:t>
            </a:fld>
            <a:endParaRPr lang="es-E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73AD28-D3A0-E832-38C1-6C9A3A1EA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9" t="2890" r="6380"/>
          <a:stretch>
            <a:fillRect/>
          </a:stretch>
        </p:blipFill>
        <p:spPr>
          <a:xfrm>
            <a:off x="313465" y="2567628"/>
            <a:ext cx="4231102" cy="2323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AAFBB3-7F99-84D8-A126-C54A73FA6620}"/>
                  </a:ext>
                </a:extLst>
              </p:cNvPr>
              <p:cNvSpPr txBox="1"/>
              <p:nvPr/>
            </p:nvSpPr>
            <p:spPr>
              <a:xfrm>
                <a:off x="64276" y="5245607"/>
                <a:ext cx="4729480" cy="725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𝐜𝐨𝐬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AAFBB3-7F99-84D8-A126-C54A73FA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6" y="5245607"/>
                <a:ext cx="4729480" cy="725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Down 19">
            <a:extLst>
              <a:ext uri="{FF2B5EF4-FFF2-40B4-BE49-F238E27FC236}">
                <a16:creationId xmlns:a16="http://schemas.microsoft.com/office/drawing/2014/main" id="{D50E6A91-670F-1B77-0BBD-DF56BAE42F2F}"/>
              </a:ext>
            </a:extLst>
          </p:cNvPr>
          <p:cNvSpPr/>
          <p:nvPr/>
        </p:nvSpPr>
        <p:spPr>
          <a:xfrm rot="6254393">
            <a:off x="4214826" y="5423155"/>
            <a:ext cx="142240" cy="10785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A diagram of a function&#10;&#10;AI-generated content may be incorrect.">
            <a:extLst>
              <a:ext uri="{FF2B5EF4-FFF2-40B4-BE49-F238E27FC236}">
                <a16:creationId xmlns:a16="http://schemas.microsoft.com/office/drawing/2014/main" id="{5BF0AB0C-DC83-6E3D-BE93-95099D8100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4"/>
          <a:stretch>
            <a:fillRect/>
          </a:stretch>
        </p:blipFill>
        <p:spPr>
          <a:xfrm>
            <a:off x="4599434" y="2567628"/>
            <a:ext cx="4544565" cy="278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3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FF3E4-5ADA-3F5E-DAC2-43DB1540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F0964D8D-1FAD-2E5B-FEBA-F3B8233E7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277" y="180912"/>
            <a:ext cx="7645400" cy="1169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Introduction</a:t>
            </a: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 : </a:t>
            </a: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Motivation</a:t>
            </a: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 and </a:t>
            </a: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Objectives</a:t>
            </a:r>
            <a:endParaRPr lang="es-AR" altLang="es-E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AR" altLang="es-E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EFE03E01-9801-F3D3-328D-0BFC0941F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209470"/>
            <a:ext cx="8001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/>
              <a:t>Introduction : Motivation and Objectives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505AB-D056-029A-A698-6B3036166831}"/>
              </a:ext>
            </a:extLst>
          </p:cNvPr>
          <p:cNvSpPr txBox="1"/>
          <p:nvPr/>
        </p:nvSpPr>
        <p:spPr>
          <a:xfrm>
            <a:off x="2258167" y="1928060"/>
            <a:ext cx="45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ICI in OFDM high mobility</a:t>
            </a:r>
            <a:endParaRPr lang="en-GB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es-ES" b="1" dirty="0">
              <a:solidFill>
                <a:srgbClr val="00206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7238" name="Slide Number Placeholder 7237">
            <a:extLst>
              <a:ext uri="{FF2B5EF4-FFF2-40B4-BE49-F238E27FC236}">
                <a16:creationId xmlns:a16="http://schemas.microsoft.com/office/drawing/2014/main" id="{F3E4A738-DA26-B705-9B63-0B0442DC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3B2203-E02D-83F8-FB22-48C265C8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9" t="2890" r="6380"/>
          <a:stretch>
            <a:fillRect/>
          </a:stretch>
        </p:blipFill>
        <p:spPr>
          <a:xfrm>
            <a:off x="313465" y="2567628"/>
            <a:ext cx="4231102" cy="2323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43466-487C-402E-3C72-EFE6F33AC9B8}"/>
                  </a:ext>
                </a:extLst>
              </p:cNvPr>
              <p:cNvSpPr txBox="1"/>
              <p:nvPr/>
            </p:nvSpPr>
            <p:spPr>
              <a:xfrm>
                <a:off x="64276" y="5245607"/>
                <a:ext cx="4729480" cy="725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𝐜𝐨𝐬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443466-487C-402E-3C72-EFE6F33AC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6" y="5245607"/>
                <a:ext cx="4729480" cy="725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function&#10;&#10;AI-generated content may be incorrect.">
            <a:extLst>
              <a:ext uri="{FF2B5EF4-FFF2-40B4-BE49-F238E27FC236}">
                <a16:creationId xmlns:a16="http://schemas.microsoft.com/office/drawing/2014/main" id="{E246D2A1-2EB2-8AB3-C955-054021EE8D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1"/>
          <a:stretch>
            <a:fillRect/>
          </a:stretch>
        </p:blipFill>
        <p:spPr>
          <a:xfrm>
            <a:off x="4572000" y="2489359"/>
            <a:ext cx="4572800" cy="283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1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CE14430-110E-EFA2-5C9E-9E8E1DCB012C}"/>
              </a:ext>
            </a:extLst>
          </p:cNvPr>
          <p:cNvSpPr txBox="1"/>
          <p:nvPr/>
        </p:nvSpPr>
        <p:spPr>
          <a:xfrm>
            <a:off x="345440" y="1061939"/>
            <a:ext cx="4577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sz="24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Objectives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1B2EDD-12E9-54CF-FC7E-87D629912228}"/>
              </a:ext>
            </a:extLst>
          </p:cNvPr>
          <p:cNvSpPr txBox="1"/>
          <p:nvPr/>
        </p:nvSpPr>
        <p:spPr>
          <a:xfrm>
            <a:off x="1187244" y="183623"/>
            <a:ext cx="57543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Introduction</a:t>
            </a: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 : </a:t>
            </a: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Motivation</a:t>
            </a: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 and </a:t>
            </a:r>
            <a:r>
              <a:rPr lang="es-AR" altLang="es-ES" sz="2800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Objectives</a:t>
            </a:r>
            <a:endParaRPr lang="es-AR" altLang="es-E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AR" altLang="es-E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EC563F3-BF5F-A6C7-D086-754F4AAF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93560" y="6248400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5</a:t>
            </a:fld>
            <a:endParaRPr lang="es-ES"/>
          </a:p>
        </p:txBody>
      </p:sp>
      <p:pic>
        <p:nvPicPr>
          <p:cNvPr id="33" name="Picture 32" descr="A road with cars on it&#10;&#10;AI-generated content may be incorrect.">
            <a:extLst>
              <a:ext uri="{FF2B5EF4-FFF2-40B4-BE49-F238E27FC236}">
                <a16:creationId xmlns:a16="http://schemas.microsoft.com/office/drawing/2014/main" id="{0FA473D6-94CD-F62F-5208-3B861E1AB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95" y="2734398"/>
            <a:ext cx="7332609" cy="3742602"/>
          </a:xfrm>
          <a:prstGeom prst="rect">
            <a:avLst/>
          </a:prstGeom>
        </p:spPr>
      </p:pic>
      <p:sp>
        <p:nvSpPr>
          <p:cNvPr id="35" name="Rectangle 2">
            <a:extLst>
              <a:ext uri="{FF2B5EF4-FFF2-40B4-BE49-F238E27FC236}">
                <a16:creationId xmlns:a16="http://schemas.microsoft.com/office/drawing/2014/main" id="{8E5A5C1F-EC64-AABB-2675-17B3B7F33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" y="1548305"/>
            <a:ext cx="84531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Study OTFS waveform, which mitigates ICI by working in the delay-Doppler domain.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Evaluate its ability to reduce pilot density in time.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89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7CD2-D51A-84D9-C588-8B828FC0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ey and yellow buttons&#10;&#10;AI-generated content may be incorrect.">
            <a:extLst>
              <a:ext uri="{FF2B5EF4-FFF2-40B4-BE49-F238E27FC236}">
                <a16:creationId xmlns:a16="http://schemas.microsoft.com/office/drawing/2014/main" id="{2D1C9D12-6F33-588F-4ACE-A333C66A7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6" t="20297" r="1886" b="35659"/>
          <a:stretch>
            <a:fillRect/>
          </a:stretch>
        </p:blipFill>
        <p:spPr>
          <a:xfrm>
            <a:off x="1674699" y="2496604"/>
            <a:ext cx="7423269" cy="2584260"/>
          </a:xfrm>
          <a:prstGeom prst="rect">
            <a:avLst/>
          </a:prstGeom>
        </p:spPr>
      </p:pic>
      <p:sp>
        <p:nvSpPr>
          <p:cNvPr id="8194" name="Text Box 3074">
            <a:extLst>
              <a:ext uri="{FF2B5EF4-FFF2-40B4-BE49-F238E27FC236}">
                <a16:creationId xmlns:a16="http://schemas.microsoft.com/office/drawing/2014/main" id="{0F8062C7-B3CE-8CCB-5AA5-E2A404E13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435" y="249980"/>
            <a:ext cx="7645400" cy="52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Fundamentos OFDM y OTFS</a:t>
            </a:r>
          </a:p>
        </p:txBody>
      </p:sp>
      <p:sp>
        <p:nvSpPr>
          <p:cNvPr id="8195" name="Rectangle 3075">
            <a:extLst>
              <a:ext uri="{FF2B5EF4-FFF2-40B4-BE49-F238E27FC236}">
                <a16:creationId xmlns:a16="http://schemas.microsoft.com/office/drawing/2014/main" id="{CED511DF-FD98-0CCC-85B5-AD4CD1602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8196" name="Rectangle 3076">
            <a:extLst>
              <a:ext uri="{FF2B5EF4-FFF2-40B4-BE49-F238E27FC236}">
                <a16:creationId xmlns:a16="http://schemas.microsoft.com/office/drawing/2014/main" id="{69FD9766-3244-C113-2A92-5984D33EB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8197" name="Rectangle 3137">
            <a:extLst>
              <a:ext uri="{FF2B5EF4-FFF2-40B4-BE49-F238E27FC236}">
                <a16:creationId xmlns:a16="http://schemas.microsoft.com/office/drawing/2014/main" id="{58BD36E0-AFD7-E0A2-399F-EF6545A7E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31" y="1097898"/>
            <a:ext cx="8001000" cy="579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BACD2-5D7D-8C19-3C5D-5FAE2BFA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06060" y="6207103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6</a:t>
            </a:fld>
            <a:endParaRPr lang="es-ES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6096DB0-48D8-468F-FA86-3280C29EE699}"/>
              </a:ext>
            </a:extLst>
          </p:cNvPr>
          <p:cNvSpPr/>
          <p:nvPr/>
        </p:nvSpPr>
        <p:spPr>
          <a:xfrm rot="16200000">
            <a:off x="3356821" y="2698072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2C7527E1-6DEB-6FC7-CD51-3A140CE1F12E}"/>
              </a:ext>
            </a:extLst>
          </p:cNvPr>
          <p:cNvSpPr/>
          <p:nvPr/>
        </p:nvSpPr>
        <p:spPr>
          <a:xfrm>
            <a:off x="8359196" y="3376338"/>
            <a:ext cx="179131" cy="62531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D9223C-63B2-AEC4-9F74-531A6EAB8AC4}"/>
                  </a:ext>
                </a:extLst>
              </p:cNvPr>
              <p:cNvSpPr txBox="1"/>
              <p:nvPr/>
            </p:nvSpPr>
            <p:spPr>
              <a:xfrm>
                <a:off x="3053024" y="2484261"/>
                <a:ext cx="8997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1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GB" sz="1800" b="1" dirty="0"/>
                  <a:t>(n’)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D9223C-63B2-AEC4-9F74-531A6EAB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024" y="2484261"/>
                <a:ext cx="899705" cy="369332"/>
              </a:xfrm>
              <a:prstGeom prst="rect">
                <a:avLst/>
              </a:prstGeom>
              <a:blipFill>
                <a:blip r:embed="rId4"/>
                <a:stretch>
                  <a:fillRect t="-10000" r="-1361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A84393-D5C6-5AC0-AA3E-90FB4D58416D}"/>
                  </a:ext>
                </a:extLst>
              </p:cNvPr>
              <p:cNvSpPr txBox="1"/>
              <p:nvPr/>
            </p:nvSpPr>
            <p:spPr>
              <a:xfrm>
                <a:off x="4877013" y="2371342"/>
                <a:ext cx="899705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𝒄𝒑</m:t>
                          </m:r>
                        </m:sub>
                      </m:sSub>
                      <m:d>
                        <m:dPr>
                          <m:ctrlPr>
                            <a:rPr lang="en-GB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A84393-D5C6-5AC0-AA3E-90FB4D584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013" y="2371342"/>
                <a:ext cx="899705" cy="394210"/>
              </a:xfrm>
              <a:prstGeom prst="rect">
                <a:avLst/>
              </a:prstGeom>
              <a:blipFill>
                <a:blip r:embed="rId5"/>
                <a:stretch>
                  <a:fillRect r="-12838" b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FF7827-C90F-9133-15B0-A56F01F06604}"/>
                  </a:ext>
                </a:extLst>
              </p:cNvPr>
              <p:cNvSpPr txBox="1"/>
              <p:nvPr/>
            </p:nvSpPr>
            <p:spPr>
              <a:xfrm>
                <a:off x="6892308" y="2362826"/>
                <a:ext cx="1036320" cy="406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sSup>
                            <m:sSupPr>
                              <m:ctrlP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𝒄𝒑</m:t>
                          </m:r>
                        </m:sub>
                      </m:sSub>
                      <m:d>
                        <m:dPr>
                          <m:ctrlPr>
                            <a:rPr lang="en-GB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FF7827-C90F-9133-15B0-A56F01F0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308" y="2362826"/>
                <a:ext cx="1036320" cy="406458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3A273D4-2EEF-5030-2C07-20B7E06D0869}"/>
                  </a:ext>
                </a:extLst>
              </p:cNvPr>
              <p:cNvSpPr txBox="1"/>
              <p:nvPr/>
            </p:nvSpPr>
            <p:spPr>
              <a:xfrm>
                <a:off x="2685414" y="3934484"/>
                <a:ext cx="1168793" cy="374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6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3A273D4-2EEF-5030-2C07-20B7E06D0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414" y="3934484"/>
                <a:ext cx="1168793" cy="374205"/>
              </a:xfrm>
              <a:prstGeom prst="rect">
                <a:avLst/>
              </a:prstGeom>
              <a:blipFill>
                <a:blip r:embed="rId7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4B0BD58-B86C-C08E-D750-BFE4767C8CF1}"/>
                  </a:ext>
                </a:extLst>
              </p:cNvPr>
              <p:cNvSpPr txBox="1"/>
              <p:nvPr/>
            </p:nvSpPr>
            <p:spPr>
              <a:xfrm>
                <a:off x="4586721" y="3882870"/>
                <a:ext cx="1482960" cy="374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6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6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4B0BD58-B86C-C08E-D750-BFE4767C8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721" y="3882870"/>
                <a:ext cx="1482960" cy="374205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8CD11CD-D6F2-3016-7F17-63072C8C769C}"/>
                  </a:ext>
                </a:extLst>
              </p:cNvPr>
              <p:cNvSpPr txBox="1"/>
              <p:nvPr/>
            </p:nvSpPr>
            <p:spPr>
              <a:xfrm>
                <a:off x="6866936" y="3895181"/>
                <a:ext cx="1124376" cy="361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6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8CD11CD-D6F2-3016-7F17-63072C8C7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936" y="3895181"/>
                <a:ext cx="1124376" cy="361894"/>
              </a:xfrm>
              <a:prstGeom prst="rect">
                <a:avLst/>
              </a:prstGeom>
              <a:blipFill>
                <a:blip r:embed="rId9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D703A8C-6845-5C44-CB45-2BFA175A2400}"/>
                  </a:ext>
                </a:extLst>
              </p:cNvPr>
              <p:cNvSpPr txBox="1"/>
              <p:nvPr/>
            </p:nvSpPr>
            <p:spPr>
              <a:xfrm>
                <a:off x="854948" y="2513233"/>
                <a:ext cx="1002725" cy="37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7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7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7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1700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D703A8C-6845-5C44-CB45-2BFA175A2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48" y="2513233"/>
                <a:ext cx="1002725" cy="378758"/>
              </a:xfrm>
              <a:prstGeom prst="rect">
                <a:avLst/>
              </a:prstGeom>
              <a:blipFill>
                <a:blip r:embed="rId10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F342D1DB-4563-98CC-3BEB-B7F11E48A369}"/>
              </a:ext>
            </a:extLst>
          </p:cNvPr>
          <p:cNvSpPr txBox="1"/>
          <p:nvPr/>
        </p:nvSpPr>
        <p:spPr>
          <a:xfrm>
            <a:off x="1338061" y="1415724"/>
            <a:ext cx="6424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s-ES" sz="28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DIAGRAMA DE BLOQUES OFDM</a:t>
            </a:r>
            <a:endParaRPr lang="en-GB" sz="2800" dirty="0"/>
          </a:p>
        </p:txBody>
      </p:sp>
      <p:pic>
        <p:nvPicPr>
          <p:cNvPr id="2050" name="Picture 2" descr="Imágenes de Grid: descubre bancos de fotos, ilustraciones, vectores y  vídeos de 5,135,146 | Adobe Stock">
            <a:extLst>
              <a:ext uri="{FF2B5EF4-FFF2-40B4-BE49-F238E27FC236}">
                <a16:creationId xmlns:a16="http://schemas.microsoft.com/office/drawing/2014/main" id="{9D5CEAD8-6BB8-5AB3-DDC4-EB0234E149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0" b="50000"/>
          <a:stretch>
            <a:fillRect/>
          </a:stretch>
        </p:blipFill>
        <p:spPr bwMode="auto">
          <a:xfrm flipH="1">
            <a:off x="240998" y="2493248"/>
            <a:ext cx="619019" cy="7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2" name="Picture 2" descr="Imágenes de Grid: descubre bancos de fotos, ilustraciones, vectores y  vídeos de 5,135,146 | Adobe Stock">
            <a:extLst>
              <a:ext uri="{FF2B5EF4-FFF2-40B4-BE49-F238E27FC236}">
                <a16:creationId xmlns:a16="http://schemas.microsoft.com/office/drawing/2014/main" id="{DCEDE2FC-6350-4D17-F11C-159D95BE9E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0" b="50000"/>
          <a:stretch>
            <a:fillRect/>
          </a:stretch>
        </p:blipFill>
        <p:spPr bwMode="auto">
          <a:xfrm flipH="1">
            <a:off x="2066396" y="4079192"/>
            <a:ext cx="619019" cy="7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2309FF54-9A61-FBC9-7F00-8061A4D48290}"/>
              </a:ext>
            </a:extLst>
          </p:cNvPr>
          <p:cNvSpPr/>
          <p:nvPr/>
        </p:nvSpPr>
        <p:spPr>
          <a:xfrm rot="16200000">
            <a:off x="1308035" y="2698071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ABE1068-920C-AF9E-44AE-384355B0B074}"/>
              </a:ext>
            </a:extLst>
          </p:cNvPr>
          <p:cNvSpPr/>
          <p:nvPr/>
        </p:nvSpPr>
        <p:spPr>
          <a:xfrm rot="16200000">
            <a:off x="5373836" y="2698071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F1156B2-00BB-D217-CA78-C3607F799079}"/>
              </a:ext>
            </a:extLst>
          </p:cNvPr>
          <p:cNvSpPr/>
          <p:nvPr/>
        </p:nvSpPr>
        <p:spPr>
          <a:xfrm rot="16200000">
            <a:off x="7326815" y="2693636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3EE69CB-EA1F-5159-31E9-0400E428C4B7}"/>
              </a:ext>
            </a:extLst>
          </p:cNvPr>
          <p:cNvSpPr/>
          <p:nvPr/>
        </p:nvSpPr>
        <p:spPr>
          <a:xfrm rot="5400000">
            <a:off x="7326815" y="4187958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B5608DF-6218-B25C-F738-B0C5C9A24305}"/>
              </a:ext>
            </a:extLst>
          </p:cNvPr>
          <p:cNvSpPr/>
          <p:nvPr/>
        </p:nvSpPr>
        <p:spPr>
          <a:xfrm rot="5400000">
            <a:off x="5236580" y="4170236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2FCAC40-9529-D707-CAFB-B322394619C5}"/>
              </a:ext>
            </a:extLst>
          </p:cNvPr>
          <p:cNvSpPr/>
          <p:nvPr/>
        </p:nvSpPr>
        <p:spPr>
          <a:xfrm rot="5400000">
            <a:off x="3146345" y="4187958"/>
            <a:ext cx="183242" cy="55008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197A6-3034-6073-3728-925C5D27835F}"/>
              </a:ext>
            </a:extLst>
          </p:cNvPr>
          <p:cNvSpPr txBox="1"/>
          <p:nvPr/>
        </p:nvSpPr>
        <p:spPr>
          <a:xfrm rot="16200000">
            <a:off x="-376545" y="2730460"/>
            <a:ext cx="10070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>
                <a:latin typeface="Arial Black" panose="020B0A04020102020204" pitchFamily="34" charset="0"/>
              </a:rPr>
              <a:t>Frecuencia</a:t>
            </a:r>
            <a:endParaRPr lang="en-GB" sz="1050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974DF-1AEE-03E4-CEBD-5880BF061A65}"/>
              </a:ext>
            </a:extLst>
          </p:cNvPr>
          <p:cNvSpPr txBox="1"/>
          <p:nvPr/>
        </p:nvSpPr>
        <p:spPr>
          <a:xfrm>
            <a:off x="239209" y="3274415"/>
            <a:ext cx="6030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>
                <a:latin typeface="Arial Black" panose="020B0A04020102020204" pitchFamily="34" charset="0"/>
              </a:rPr>
              <a:t>M x N</a:t>
            </a:r>
            <a:endParaRPr lang="en-GB" sz="1050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C95C0C-D8E0-91D6-13AC-0B98A0A274E3}"/>
              </a:ext>
            </a:extLst>
          </p:cNvPr>
          <p:cNvSpPr txBox="1"/>
          <p:nvPr/>
        </p:nvSpPr>
        <p:spPr>
          <a:xfrm>
            <a:off x="2074920" y="4846810"/>
            <a:ext cx="6030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>
                <a:latin typeface="Arial Black" panose="020B0A04020102020204" pitchFamily="34" charset="0"/>
              </a:rPr>
              <a:t>M x N</a:t>
            </a:r>
            <a:endParaRPr lang="en-GB" sz="1050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3B26E-616F-0DFC-54AC-C970A3879928}"/>
              </a:ext>
            </a:extLst>
          </p:cNvPr>
          <p:cNvSpPr txBox="1"/>
          <p:nvPr/>
        </p:nvSpPr>
        <p:spPr>
          <a:xfrm rot="16200000">
            <a:off x="1407277" y="4337423"/>
            <a:ext cx="10070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>
                <a:latin typeface="Arial Black" panose="020B0A04020102020204" pitchFamily="34" charset="0"/>
              </a:rPr>
              <a:t>Frecuencia</a:t>
            </a:r>
            <a:endParaRPr lang="en-GB" sz="1050" dirty="0"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A44DE-819B-B673-E613-C44DC4297D5D}"/>
              </a:ext>
            </a:extLst>
          </p:cNvPr>
          <p:cNvSpPr txBox="1"/>
          <p:nvPr/>
        </p:nvSpPr>
        <p:spPr>
          <a:xfrm>
            <a:off x="264857" y="2260978"/>
            <a:ext cx="7312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>
                <a:latin typeface="Arial Black" panose="020B0A04020102020204" pitchFamily="34" charset="0"/>
              </a:rPr>
              <a:t>Tiempo</a:t>
            </a:r>
            <a:endParaRPr lang="en-GB" sz="1050" dirty="0"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CC66D-6D89-CB73-BA8D-E7B3BAEC2514}"/>
              </a:ext>
            </a:extLst>
          </p:cNvPr>
          <p:cNvSpPr txBox="1"/>
          <p:nvPr/>
        </p:nvSpPr>
        <p:spPr>
          <a:xfrm>
            <a:off x="2010260" y="3825276"/>
            <a:ext cx="7312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>
                <a:latin typeface="Arial Black" panose="020B0A04020102020204" pitchFamily="34" charset="0"/>
              </a:rPr>
              <a:t>Tiempo</a:t>
            </a:r>
            <a:endParaRPr lang="en-GB" sz="105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3D43E-ED1F-4551-E610-5C1E197D0C41}"/>
              </a:ext>
            </a:extLst>
          </p:cNvPr>
          <p:cNvSpPr txBox="1"/>
          <p:nvPr/>
        </p:nvSpPr>
        <p:spPr>
          <a:xfrm>
            <a:off x="-703491" y="5552625"/>
            <a:ext cx="5893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s-E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Relación</a:t>
            </a:r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entrada-</a:t>
            </a:r>
            <a:r>
              <a:rPr lang="en-US" altLang="es-E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salida</a:t>
            </a:r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8AECAF-CACC-E0F2-00C0-376371018957}"/>
                  </a:ext>
                </a:extLst>
              </p:cNvPr>
              <p:cNvSpPr txBox="1"/>
              <p:nvPr/>
            </p:nvSpPr>
            <p:spPr>
              <a:xfrm>
                <a:off x="3854207" y="5585070"/>
                <a:ext cx="5586295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GB" sz="2000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GB" sz="20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𝒁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8AECAF-CACC-E0F2-00C0-376371018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207" y="5585070"/>
                <a:ext cx="5586295" cy="429220"/>
              </a:xfrm>
              <a:prstGeom prst="rect">
                <a:avLst/>
              </a:prstGeom>
              <a:blipFill>
                <a:blip r:embed="rId1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D1A19C-D054-6016-260D-D69B5A8C1EF5}"/>
                  </a:ext>
                </a:extLst>
              </p:cNvPr>
              <p:cNvSpPr txBox="1"/>
              <p:nvPr/>
            </p:nvSpPr>
            <p:spPr>
              <a:xfrm>
                <a:off x="7496916" y="3454776"/>
                <a:ext cx="8997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GB" sz="1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GB" sz="1800" b="1" dirty="0"/>
                  <a:t>(n’)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D1A19C-D054-6016-260D-D69B5A8C1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916" y="3454776"/>
                <a:ext cx="899705" cy="369332"/>
              </a:xfrm>
              <a:prstGeom prst="rect">
                <a:avLst/>
              </a:prstGeom>
              <a:blipFill>
                <a:blip r:embed="rId13"/>
                <a:stretch>
                  <a:fillRect t="-10000" r="-1361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37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167D20-8198-1123-6335-04432916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108C778F-B74C-25F0-63D7-05B210E380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347719"/>
                  </p:ext>
                </p:extLst>
              </p:nvPr>
            </p:nvGraphicFramePr>
            <p:xfrm>
              <a:off x="432241" y="2467707"/>
              <a:ext cx="3998409" cy="19436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770758">
                      <a:extLst>
                        <a:ext uri="{9D8B030D-6E8A-4147-A177-3AD203B41FA5}">
                          <a16:colId xmlns:a16="http://schemas.microsoft.com/office/drawing/2014/main" val="1268455376"/>
                        </a:ext>
                      </a:extLst>
                    </a:gridCol>
                    <a:gridCol w="767013">
                      <a:extLst>
                        <a:ext uri="{9D8B030D-6E8A-4147-A177-3AD203B41FA5}">
                          <a16:colId xmlns:a16="http://schemas.microsoft.com/office/drawing/2014/main" val="1557752900"/>
                        </a:ext>
                      </a:extLst>
                    </a:gridCol>
                    <a:gridCol w="1460638">
                      <a:extLst>
                        <a:ext uri="{9D8B030D-6E8A-4147-A177-3AD203B41FA5}">
                          <a16:colId xmlns:a16="http://schemas.microsoft.com/office/drawing/2014/main" val="158025231"/>
                        </a:ext>
                      </a:extLst>
                    </a:gridCol>
                  </a:tblGrid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TIEMPO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FFT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DOPPLER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50024"/>
                      </a:ext>
                    </a:extLst>
                  </a:tr>
                  <a:tr h="355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k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8666410"/>
                      </a:ext>
                    </a:extLst>
                  </a:tr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FRECUENCIA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IFFT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RETARDO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092698"/>
                      </a:ext>
                    </a:extLst>
                  </a:tr>
                  <a:tr h="355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0" smtClean="0">
                                    <a:latin typeface="Cambria Math" panose="02040503050406030204" pitchFamily="18" charset="0"/>
                                  </a:rPr>
                                  <m:t>𝓵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94260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108C778F-B74C-25F0-63D7-05B210E380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347719"/>
                  </p:ext>
                </p:extLst>
              </p:nvPr>
            </p:nvGraphicFramePr>
            <p:xfrm>
              <a:off x="432241" y="2467707"/>
              <a:ext cx="3998409" cy="19436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770758">
                      <a:extLst>
                        <a:ext uri="{9D8B030D-6E8A-4147-A177-3AD203B41FA5}">
                          <a16:colId xmlns:a16="http://schemas.microsoft.com/office/drawing/2014/main" val="1268455376"/>
                        </a:ext>
                      </a:extLst>
                    </a:gridCol>
                    <a:gridCol w="767013">
                      <a:extLst>
                        <a:ext uri="{9D8B030D-6E8A-4147-A177-3AD203B41FA5}">
                          <a16:colId xmlns:a16="http://schemas.microsoft.com/office/drawing/2014/main" val="1557752900"/>
                        </a:ext>
                      </a:extLst>
                    </a:gridCol>
                    <a:gridCol w="1460638">
                      <a:extLst>
                        <a:ext uri="{9D8B030D-6E8A-4147-A177-3AD203B41FA5}">
                          <a16:colId xmlns:a16="http://schemas.microsoft.com/office/drawing/2014/main" val="158025231"/>
                        </a:ext>
                      </a:extLst>
                    </a:gridCol>
                  </a:tblGrid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TIEMPO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FFT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DOPPLER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500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k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8666410"/>
                      </a:ext>
                    </a:extLst>
                  </a:tr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FRECUENCIA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IFFT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RETARDO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0926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4167" t="-441667" r="-833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4260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Arrow: Down 2">
            <a:extLst>
              <a:ext uri="{FF2B5EF4-FFF2-40B4-BE49-F238E27FC236}">
                <a16:creationId xmlns:a16="http://schemas.microsoft.com/office/drawing/2014/main" id="{92841C17-FA04-8EBC-A8F7-814F389F1CC5}"/>
              </a:ext>
            </a:extLst>
          </p:cNvPr>
          <p:cNvSpPr/>
          <p:nvPr/>
        </p:nvSpPr>
        <p:spPr>
          <a:xfrm rot="16200000">
            <a:off x="2465908" y="2978686"/>
            <a:ext cx="233339" cy="549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788A656-C68E-DD8E-6772-F0281ED13C44}"/>
              </a:ext>
            </a:extLst>
          </p:cNvPr>
          <p:cNvSpPr/>
          <p:nvPr/>
        </p:nvSpPr>
        <p:spPr>
          <a:xfrm rot="16200000">
            <a:off x="2465909" y="3962125"/>
            <a:ext cx="233339" cy="549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944BF-83B6-D625-811A-6DF6941D03EF}"/>
              </a:ext>
            </a:extLst>
          </p:cNvPr>
          <p:cNvSpPr txBox="1"/>
          <p:nvPr/>
        </p:nvSpPr>
        <p:spPr>
          <a:xfrm>
            <a:off x="-516543" y="1729072"/>
            <a:ext cx="5895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Transformada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de Fourier </a:t>
            </a:r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finita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simétrica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(SFFT)</a:t>
            </a:r>
            <a:endParaRPr lang="en-GB" sz="1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FEE263-1322-2C22-12A7-4E20AE361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67365"/>
                  </p:ext>
                </p:extLst>
              </p:nvPr>
            </p:nvGraphicFramePr>
            <p:xfrm>
              <a:off x="4984374" y="2467707"/>
              <a:ext cx="3998409" cy="19436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770758">
                      <a:extLst>
                        <a:ext uri="{9D8B030D-6E8A-4147-A177-3AD203B41FA5}">
                          <a16:colId xmlns:a16="http://schemas.microsoft.com/office/drawing/2014/main" val="1268455376"/>
                        </a:ext>
                      </a:extLst>
                    </a:gridCol>
                    <a:gridCol w="767013">
                      <a:extLst>
                        <a:ext uri="{9D8B030D-6E8A-4147-A177-3AD203B41FA5}">
                          <a16:colId xmlns:a16="http://schemas.microsoft.com/office/drawing/2014/main" val="1557752900"/>
                        </a:ext>
                      </a:extLst>
                    </a:gridCol>
                    <a:gridCol w="1460638">
                      <a:extLst>
                        <a:ext uri="{9D8B030D-6E8A-4147-A177-3AD203B41FA5}">
                          <a16:colId xmlns:a16="http://schemas.microsoft.com/office/drawing/2014/main" val="158025231"/>
                        </a:ext>
                      </a:extLst>
                    </a:gridCol>
                  </a:tblGrid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TIEMPO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FFT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DOPPLER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50024"/>
                      </a:ext>
                    </a:extLst>
                  </a:tr>
                  <a:tr h="355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k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8666410"/>
                      </a:ext>
                    </a:extLst>
                  </a:tr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FRECUENCIA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IFFT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RETARDO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092698"/>
                      </a:ext>
                    </a:extLst>
                  </a:tr>
                  <a:tr h="355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0" smtClean="0">
                                    <a:latin typeface="Cambria Math" panose="02040503050406030204" pitchFamily="18" charset="0"/>
                                  </a:rPr>
                                  <m:t>𝓵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94260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FEE263-1322-2C22-12A7-4E20AE361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67365"/>
                  </p:ext>
                </p:extLst>
              </p:nvPr>
            </p:nvGraphicFramePr>
            <p:xfrm>
              <a:off x="4984374" y="2467707"/>
              <a:ext cx="3998409" cy="19436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770758">
                      <a:extLst>
                        <a:ext uri="{9D8B030D-6E8A-4147-A177-3AD203B41FA5}">
                          <a16:colId xmlns:a16="http://schemas.microsoft.com/office/drawing/2014/main" val="1268455376"/>
                        </a:ext>
                      </a:extLst>
                    </a:gridCol>
                    <a:gridCol w="767013">
                      <a:extLst>
                        <a:ext uri="{9D8B030D-6E8A-4147-A177-3AD203B41FA5}">
                          <a16:colId xmlns:a16="http://schemas.microsoft.com/office/drawing/2014/main" val="1557752900"/>
                        </a:ext>
                      </a:extLst>
                    </a:gridCol>
                    <a:gridCol w="1460638">
                      <a:extLst>
                        <a:ext uri="{9D8B030D-6E8A-4147-A177-3AD203B41FA5}">
                          <a16:colId xmlns:a16="http://schemas.microsoft.com/office/drawing/2014/main" val="158025231"/>
                        </a:ext>
                      </a:extLst>
                    </a:gridCol>
                  </a:tblGrid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TIEMPO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FFT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>
                              <a:solidFill>
                                <a:schemeClr val="tx1"/>
                              </a:solidFill>
                            </a:rPr>
                            <a:t>DOPPLER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500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k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8666410"/>
                      </a:ext>
                    </a:extLst>
                  </a:tr>
                  <a:tr h="6060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FRECUENCIA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IFFT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RETARDO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0926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endParaRPr lang="en-GB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167" t="-441667" r="-833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4260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rrow: Down 7">
            <a:extLst>
              <a:ext uri="{FF2B5EF4-FFF2-40B4-BE49-F238E27FC236}">
                <a16:creationId xmlns:a16="http://schemas.microsoft.com/office/drawing/2014/main" id="{F7B079F4-E34B-4D27-E01B-15CDAF406DCA}"/>
              </a:ext>
            </a:extLst>
          </p:cNvPr>
          <p:cNvSpPr/>
          <p:nvPr/>
        </p:nvSpPr>
        <p:spPr>
          <a:xfrm rot="5400000">
            <a:off x="7020426" y="2978685"/>
            <a:ext cx="233339" cy="549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660B882-172C-7686-EB6E-4F807A59E9A2}"/>
              </a:ext>
            </a:extLst>
          </p:cNvPr>
          <p:cNvSpPr/>
          <p:nvPr/>
        </p:nvSpPr>
        <p:spPr>
          <a:xfrm rot="5400000">
            <a:off x="7020427" y="3962125"/>
            <a:ext cx="233339" cy="549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EA85F-5588-199B-56E2-2C35B6D3C4FD}"/>
              </a:ext>
            </a:extLst>
          </p:cNvPr>
          <p:cNvSpPr txBox="1"/>
          <p:nvPr/>
        </p:nvSpPr>
        <p:spPr>
          <a:xfrm>
            <a:off x="4600423" y="1748422"/>
            <a:ext cx="4766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Transformada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de Fourier </a:t>
            </a:r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finita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simétrica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inversa</a:t>
            </a:r>
            <a:r>
              <a:rPr lang="en-US" sz="1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(ISFFT)</a:t>
            </a:r>
            <a:endParaRPr lang="en-GB" sz="1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3B7FC97-CD26-B16B-1CF9-BA527BFD476F}"/>
                  </a:ext>
                </a:extLst>
              </p:cNvPr>
              <p:cNvSpPr txBox="1"/>
              <p:nvPr/>
            </p:nvSpPr>
            <p:spPr>
              <a:xfrm>
                <a:off x="4405867" y="5080625"/>
                <a:ext cx="45769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𝓵</m:t>
                          </m:r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GB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⊛ 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  <m:r>
                        <a:rPr lang="en-GB" b="1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3B7FC97-CD26-B16B-1CF9-BA527BFD4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867" y="5080625"/>
                <a:ext cx="457691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1837EAF-9E9C-CF50-F854-5BB4F3303317}"/>
              </a:ext>
            </a:extLst>
          </p:cNvPr>
          <p:cNvSpPr txBox="1"/>
          <p:nvPr/>
        </p:nvSpPr>
        <p:spPr>
          <a:xfrm>
            <a:off x="-415925" y="5094651"/>
            <a:ext cx="5893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s-E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Relación</a:t>
            </a:r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entrada-</a:t>
            </a:r>
            <a:r>
              <a:rPr lang="en-US" altLang="es-E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salida</a:t>
            </a:r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endParaRPr lang="en-GB" dirty="0"/>
          </a:p>
        </p:txBody>
      </p:sp>
      <p:sp>
        <p:nvSpPr>
          <p:cNvPr id="12" name="Text Box 3074">
            <a:extLst>
              <a:ext uri="{FF2B5EF4-FFF2-40B4-BE49-F238E27FC236}">
                <a16:creationId xmlns:a16="http://schemas.microsoft.com/office/drawing/2014/main" id="{235BB117-362B-9B63-A57E-E4381E24D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435" y="249980"/>
            <a:ext cx="7645400" cy="52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Fundamentos OFDM y OTFS</a:t>
            </a:r>
          </a:p>
        </p:txBody>
      </p:sp>
    </p:spTree>
    <p:extLst>
      <p:ext uri="{BB962C8B-B14F-4D97-AF65-F5344CB8AC3E}">
        <p14:creationId xmlns:p14="http://schemas.microsoft.com/office/powerpoint/2010/main" val="1595378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B482-64C5-9659-7D5D-E4EAE38E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different types of internet domain&#10;&#10;AI-generated content may be incorrect.">
            <a:extLst>
              <a:ext uri="{FF2B5EF4-FFF2-40B4-BE49-F238E27FC236}">
                <a16:creationId xmlns:a16="http://schemas.microsoft.com/office/drawing/2014/main" id="{3A46EF7C-EF4D-FF08-ED25-40E64B120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" t="8889" r="1578" b="6696"/>
          <a:stretch>
            <a:fillRect/>
          </a:stretch>
        </p:blipFill>
        <p:spPr>
          <a:xfrm>
            <a:off x="793174" y="1306931"/>
            <a:ext cx="7742903" cy="47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033D7D-C316-B4B8-00EE-ACED09203625}"/>
              </a:ext>
            </a:extLst>
          </p:cNvPr>
          <p:cNvSpPr txBox="1"/>
          <p:nvPr/>
        </p:nvSpPr>
        <p:spPr>
          <a:xfrm>
            <a:off x="1098753" y="284410"/>
            <a:ext cx="45769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Fundamentos OFDM y OTFS</a:t>
            </a:r>
          </a:p>
          <a:p>
            <a:endParaRPr lang="en-GB" sz="28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EB4130-5B71-E4E9-9E98-5DFFD2FE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0349" y="6316784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3A57AF2-F817-E59A-18FF-214408DF3880}"/>
              </a:ext>
            </a:extLst>
          </p:cNvPr>
          <p:cNvSpPr/>
          <p:nvPr/>
        </p:nvSpPr>
        <p:spPr>
          <a:xfrm>
            <a:off x="2621128" y="2440246"/>
            <a:ext cx="283222" cy="625953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0C4E8-F428-6488-0981-B3EDE7BE320B}"/>
                  </a:ext>
                </a:extLst>
              </p:cNvPr>
              <p:cNvSpPr txBox="1"/>
              <p:nvPr/>
            </p:nvSpPr>
            <p:spPr>
              <a:xfrm>
                <a:off x="1587398" y="2538214"/>
                <a:ext cx="1002725" cy="37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7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7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7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7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17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0C4E8-F428-6488-0981-B3EDE7BE3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98" y="2538214"/>
                <a:ext cx="1002725" cy="378758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Down 15">
            <a:extLst>
              <a:ext uri="{FF2B5EF4-FFF2-40B4-BE49-F238E27FC236}">
                <a16:creationId xmlns:a16="http://schemas.microsoft.com/office/drawing/2014/main" id="{2835CF5C-39A9-2C37-A65B-4B31DBECCE91}"/>
              </a:ext>
            </a:extLst>
          </p:cNvPr>
          <p:cNvSpPr/>
          <p:nvPr/>
        </p:nvSpPr>
        <p:spPr>
          <a:xfrm rot="16200000">
            <a:off x="3619373" y="3533255"/>
            <a:ext cx="233339" cy="549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D5810C3-4099-5273-5E88-6B407468BF77}"/>
              </a:ext>
            </a:extLst>
          </p:cNvPr>
          <p:cNvSpPr/>
          <p:nvPr/>
        </p:nvSpPr>
        <p:spPr>
          <a:xfrm rot="16200000">
            <a:off x="5662771" y="3533255"/>
            <a:ext cx="233339" cy="549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BE3B795-2A57-BCAE-6C0B-083A112244A6}"/>
              </a:ext>
            </a:extLst>
          </p:cNvPr>
          <p:cNvSpPr/>
          <p:nvPr/>
        </p:nvSpPr>
        <p:spPr>
          <a:xfrm>
            <a:off x="7373966" y="4318837"/>
            <a:ext cx="302782" cy="80299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6F2CA1C-A778-8A7E-C248-6ECAE11AA1B3}"/>
              </a:ext>
            </a:extLst>
          </p:cNvPr>
          <p:cNvSpPr/>
          <p:nvPr/>
        </p:nvSpPr>
        <p:spPr>
          <a:xfrm rot="5400000">
            <a:off x="6495748" y="5314399"/>
            <a:ext cx="221050" cy="55490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7413957-BDBB-A918-94C0-4AFC39745D08}"/>
              </a:ext>
            </a:extLst>
          </p:cNvPr>
          <p:cNvSpPr/>
          <p:nvPr/>
        </p:nvSpPr>
        <p:spPr>
          <a:xfrm rot="5400000">
            <a:off x="3752887" y="5155416"/>
            <a:ext cx="233340" cy="91369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8E0F872-8EA8-35B5-D027-0C7ADF9AA2F8}"/>
              </a:ext>
            </a:extLst>
          </p:cNvPr>
          <p:cNvSpPr/>
          <p:nvPr/>
        </p:nvSpPr>
        <p:spPr>
          <a:xfrm rot="16200000">
            <a:off x="1634173" y="1473678"/>
            <a:ext cx="283222" cy="625953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2" descr="Imágenes de Grid: descubre bancos de fotos, ilustraciones, vectores y  vídeos de 5,135,146 | Adobe Stock">
            <a:extLst>
              <a:ext uri="{FF2B5EF4-FFF2-40B4-BE49-F238E27FC236}">
                <a16:creationId xmlns:a16="http://schemas.microsoft.com/office/drawing/2014/main" id="{11498AE2-D327-1FBA-F958-D8D5E4197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0" b="50000"/>
          <a:stretch>
            <a:fillRect/>
          </a:stretch>
        </p:blipFill>
        <p:spPr bwMode="auto">
          <a:xfrm flipH="1">
            <a:off x="609487" y="1421128"/>
            <a:ext cx="619019" cy="7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483B8A7-8E51-1FB9-6DF9-988C6781E112}"/>
              </a:ext>
            </a:extLst>
          </p:cNvPr>
          <p:cNvSpPr txBox="1"/>
          <p:nvPr/>
        </p:nvSpPr>
        <p:spPr>
          <a:xfrm>
            <a:off x="573447" y="2170416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Arial Black" panose="020B0A04020102020204" pitchFamily="34" charset="0"/>
              </a:rPr>
              <a:t>M x N</a:t>
            </a:r>
            <a:endParaRPr lang="en-GB" sz="1400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DF65C2-2DDD-A8A2-2EAE-66B87B59E8FA}"/>
              </a:ext>
            </a:extLst>
          </p:cNvPr>
          <p:cNvSpPr txBox="1"/>
          <p:nvPr/>
        </p:nvSpPr>
        <p:spPr>
          <a:xfrm>
            <a:off x="485396" y="1135429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Arial Black" panose="020B0A04020102020204" pitchFamily="34" charset="0"/>
              </a:rPr>
              <a:t>Retardo</a:t>
            </a:r>
            <a:endParaRPr lang="en-GB" sz="1400" dirty="0"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136ED4-3E84-1EB1-3AB6-A4C211298D1E}"/>
              </a:ext>
            </a:extLst>
          </p:cNvPr>
          <p:cNvSpPr txBox="1"/>
          <p:nvPr/>
        </p:nvSpPr>
        <p:spPr>
          <a:xfrm rot="16200000">
            <a:off x="-111023" y="1632767"/>
            <a:ext cx="1061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 Black" panose="020B0A04020102020204" pitchFamily="34" charset="0"/>
              </a:rPr>
              <a:t>Doppler</a:t>
            </a:r>
            <a:endParaRPr lang="en-GB" sz="1400" dirty="0"/>
          </a:p>
        </p:txBody>
      </p:sp>
      <p:pic>
        <p:nvPicPr>
          <p:cNvPr id="30" name="Picture 2" descr="Imágenes de Grid: descubre bancos de fotos, ilustraciones, vectores y  vídeos de 5,135,146 | Adobe Stock">
            <a:extLst>
              <a:ext uri="{FF2B5EF4-FFF2-40B4-BE49-F238E27FC236}">
                <a16:creationId xmlns:a16="http://schemas.microsoft.com/office/drawing/2014/main" id="{A8779D3F-3725-E442-A9FE-092EEAF24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0" b="50000"/>
          <a:stretch>
            <a:fillRect/>
          </a:stretch>
        </p:blipFill>
        <p:spPr bwMode="auto">
          <a:xfrm flipH="1">
            <a:off x="2604590" y="5244938"/>
            <a:ext cx="619019" cy="7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E22587-FD00-41F7-4715-4C8BA2D27ACC}"/>
              </a:ext>
            </a:extLst>
          </p:cNvPr>
          <p:cNvSpPr txBox="1"/>
          <p:nvPr/>
        </p:nvSpPr>
        <p:spPr>
          <a:xfrm>
            <a:off x="2545017" y="6009007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Arial Black" panose="020B0A04020102020204" pitchFamily="34" charset="0"/>
              </a:rPr>
              <a:t>M x N</a:t>
            </a:r>
            <a:endParaRPr lang="en-GB" sz="1400" dirty="0">
              <a:latin typeface="Arial Black" panose="020B0A04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05147C-5788-7653-95A7-B8CA515AE2CA}"/>
              </a:ext>
            </a:extLst>
          </p:cNvPr>
          <p:cNvSpPr txBox="1"/>
          <p:nvPr/>
        </p:nvSpPr>
        <p:spPr>
          <a:xfrm rot="16200000">
            <a:off x="1925806" y="5450955"/>
            <a:ext cx="1061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 Black" panose="020B0A04020102020204" pitchFamily="34" charset="0"/>
              </a:rPr>
              <a:t>Doppler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7B8FE5-8977-726B-36A9-7954C85EFD3A}"/>
              </a:ext>
            </a:extLst>
          </p:cNvPr>
          <p:cNvSpPr txBox="1"/>
          <p:nvPr/>
        </p:nvSpPr>
        <p:spPr>
          <a:xfrm>
            <a:off x="3206146" y="1443655"/>
            <a:ext cx="5893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DIAGRAMA DE BLOQUES OTFS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64E927-D49A-666E-F3AF-E7F4A5BDE785}"/>
                  </a:ext>
                </a:extLst>
              </p:cNvPr>
              <p:cNvSpPr txBox="1"/>
              <p:nvPr/>
            </p:nvSpPr>
            <p:spPr>
              <a:xfrm>
                <a:off x="6058306" y="4949338"/>
                <a:ext cx="10959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8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>
                              <a:latin typeface="Cambria Math" panose="02040503050406030204" pitchFamily="18" charset="0"/>
                            </a:rPr>
                            <m:t>𝓵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64E927-D49A-666E-F3AF-E7F4A5BDE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306" y="4949338"/>
                <a:ext cx="1095934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35A2456-1EF7-0A2D-4123-C4DD5C17A562}"/>
                  </a:ext>
                </a:extLst>
              </p:cNvPr>
              <p:cNvSpPr txBox="1"/>
              <p:nvPr/>
            </p:nvSpPr>
            <p:spPr>
              <a:xfrm>
                <a:off x="4473678" y="4416876"/>
                <a:ext cx="4670322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𝒕𝒇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35A2456-1EF7-0A2D-4123-C4DD5C17A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678" y="4416876"/>
                <a:ext cx="4670322" cy="395558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A0B6FD0-812C-B0DE-BD0C-715E0CA088B8}"/>
                  </a:ext>
                </a:extLst>
              </p:cNvPr>
              <p:cNvSpPr txBox="1"/>
              <p:nvPr/>
            </p:nvSpPr>
            <p:spPr>
              <a:xfrm>
                <a:off x="1364790" y="3384045"/>
                <a:ext cx="47883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A0B6FD0-812C-B0DE-BD0C-715E0CA08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790" y="3384045"/>
                <a:ext cx="478830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3CFFF7B-9073-4465-0556-2AFEA21B8359}"/>
                  </a:ext>
                </a:extLst>
              </p:cNvPr>
              <p:cNvSpPr txBox="1"/>
              <p:nvPr/>
            </p:nvSpPr>
            <p:spPr>
              <a:xfrm>
                <a:off x="5606967" y="3398722"/>
                <a:ext cx="5324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smtClean="0"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GB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3CFFF7B-9073-4465-0556-2AFEA21B8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967" y="3398722"/>
                <a:ext cx="532466" cy="369332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A0D4FF-4129-2E5C-6181-910E81C240DA}"/>
                  </a:ext>
                </a:extLst>
              </p:cNvPr>
              <p:cNvSpPr txBox="1"/>
              <p:nvPr/>
            </p:nvSpPr>
            <p:spPr>
              <a:xfrm>
                <a:off x="3370026" y="5099163"/>
                <a:ext cx="1188815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1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8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0">
                              <a:latin typeface="Cambria Math" panose="02040503050406030204" pitchFamily="18" charset="0"/>
                            </a:rPr>
                            <m:t>𝓵</m:t>
                          </m:r>
                          <m:r>
                            <a:rPr lang="en-GB" sz="18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A0D4FF-4129-2E5C-6181-910E81C24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26" y="5099163"/>
                <a:ext cx="1188815" cy="376770"/>
              </a:xfrm>
              <a:prstGeom prst="rect">
                <a:avLst/>
              </a:prstGeom>
              <a:blipFill>
                <a:blip r:embed="rId9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1197D39-17CD-47E5-2605-AFB0805A2796}"/>
              </a:ext>
            </a:extLst>
          </p:cNvPr>
          <p:cNvSpPr txBox="1"/>
          <p:nvPr/>
        </p:nvSpPr>
        <p:spPr>
          <a:xfrm>
            <a:off x="2475372" y="4961559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Arial Black" panose="020B0A04020102020204" pitchFamily="34" charset="0"/>
              </a:rPr>
              <a:t>Retardo</a:t>
            </a:r>
            <a:endParaRPr lang="en-GB" sz="14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40C3FD1-F5E4-FAFD-0D16-F898199D6B7B}"/>
                  </a:ext>
                </a:extLst>
              </p:cNvPr>
              <p:cNvSpPr txBox="1"/>
              <p:nvPr/>
            </p:nvSpPr>
            <p:spPr>
              <a:xfrm>
                <a:off x="1247520" y="1307005"/>
                <a:ext cx="10959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𝒅𝒅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8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>
                              <a:latin typeface="Cambria Math" panose="02040503050406030204" pitchFamily="18" charset="0"/>
                            </a:rPr>
                            <m:t>𝓵</m:t>
                          </m:r>
                        </m:e>
                      </m:d>
                    </m:oMath>
                  </m:oMathPara>
                </a14:m>
                <a:endParaRPr lang="en-GB" sz="1800" b="1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40C3FD1-F5E4-FAFD-0D16-F898199D6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520" y="1307005"/>
                <a:ext cx="1095934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01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36C253-BD47-C6F6-0130-538D07A8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2809" y="6424765"/>
            <a:ext cx="281191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9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37B8F-0757-1125-6A1A-0F73EF799BA3}"/>
              </a:ext>
            </a:extLst>
          </p:cNvPr>
          <p:cNvSpPr txBox="1"/>
          <p:nvPr/>
        </p:nvSpPr>
        <p:spPr>
          <a:xfrm>
            <a:off x="1128252" y="245081"/>
            <a:ext cx="45769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Fundamentos OFDM y OTFS</a:t>
            </a:r>
          </a:p>
          <a:p>
            <a:endParaRPr lang="en-GB" sz="280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C335AA36-84A0-3079-A5B8-5E91A9509EF4}"/>
              </a:ext>
            </a:extLst>
          </p:cNvPr>
          <p:cNvSpPr/>
          <p:nvPr/>
        </p:nvSpPr>
        <p:spPr>
          <a:xfrm rot="10800000">
            <a:off x="4237645" y="1164482"/>
            <a:ext cx="93407" cy="197382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274B809-4203-C822-3E16-577FAF40F8AC}"/>
              </a:ext>
            </a:extLst>
          </p:cNvPr>
          <p:cNvSpPr/>
          <p:nvPr/>
        </p:nvSpPr>
        <p:spPr>
          <a:xfrm rot="10800000">
            <a:off x="4237643" y="4001446"/>
            <a:ext cx="93407" cy="197382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A51AF-6FB5-C9C6-F030-24D9248D573F}"/>
              </a:ext>
            </a:extLst>
          </p:cNvPr>
          <p:cNvSpPr txBox="1"/>
          <p:nvPr/>
        </p:nvSpPr>
        <p:spPr>
          <a:xfrm>
            <a:off x="1577217" y="2201298"/>
            <a:ext cx="2495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Frecuencia</a:t>
            </a:r>
          </a:p>
          <a:p>
            <a:pPr algn="ctr"/>
            <a:r>
              <a:rPr lang="es-ES" sz="1800" dirty="0">
                <a:latin typeface="Arial Black" panose="020B0A04020102020204" pitchFamily="34" charset="0"/>
              </a:rPr>
              <a:t>(M subportadoras)</a:t>
            </a:r>
            <a:endParaRPr lang="en-GB" sz="1800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8CD81-19AA-2E9D-3DB6-C157ADFAB677}"/>
              </a:ext>
            </a:extLst>
          </p:cNvPr>
          <p:cNvSpPr txBox="1"/>
          <p:nvPr/>
        </p:nvSpPr>
        <p:spPr>
          <a:xfrm>
            <a:off x="2610157" y="4535892"/>
            <a:ext cx="1833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Índice Doppler</a:t>
            </a:r>
            <a:endParaRPr lang="en-GB" sz="1800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86664-9363-B8C7-8DCA-648C0D3F621E}"/>
              </a:ext>
            </a:extLst>
          </p:cNvPr>
          <p:cNvSpPr txBox="1"/>
          <p:nvPr/>
        </p:nvSpPr>
        <p:spPr>
          <a:xfrm>
            <a:off x="3849174" y="3354499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Tiempo (N símbolos OFDM)</a:t>
            </a:r>
            <a:endParaRPr lang="en-GB" sz="1800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01BFCF-BDFB-9E24-B4A4-D6767C4CA931}"/>
              </a:ext>
            </a:extLst>
          </p:cNvPr>
          <p:cNvSpPr txBox="1"/>
          <p:nvPr/>
        </p:nvSpPr>
        <p:spPr>
          <a:xfrm>
            <a:off x="4237642" y="6263680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Índice retardo </a:t>
            </a:r>
            <a:endParaRPr lang="en-GB" sz="1800" dirty="0">
              <a:latin typeface="Arial Black" panose="020B0A040201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FB244B0-DBFA-FDCD-3FFF-9B4B272C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507221"/>
              </p:ext>
            </p:extLst>
          </p:nvPr>
        </p:nvGraphicFramePr>
        <p:xfrm>
          <a:off x="4572000" y="1061508"/>
          <a:ext cx="3596666" cy="21401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94182">
                  <a:extLst>
                    <a:ext uri="{9D8B030D-6E8A-4147-A177-3AD203B41FA5}">
                      <a16:colId xmlns:a16="http://schemas.microsoft.com/office/drawing/2014/main" val="836292009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4186344230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3214499187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1094067068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3811738061"/>
                    </a:ext>
                  </a:extLst>
                </a:gridCol>
              </a:tblGrid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474026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212890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897459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98242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Data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Pilot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1664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3BB608-DB4C-8283-DA7A-09E1C16FE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906300"/>
              </p:ext>
            </p:extLst>
          </p:nvPr>
        </p:nvGraphicFramePr>
        <p:xfrm>
          <a:off x="4572000" y="3874314"/>
          <a:ext cx="3596666" cy="21401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94182">
                  <a:extLst>
                    <a:ext uri="{9D8B030D-6E8A-4147-A177-3AD203B41FA5}">
                      <a16:colId xmlns:a16="http://schemas.microsoft.com/office/drawing/2014/main" val="836292009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4186344230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3214499187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1094067068"/>
                    </a:ext>
                  </a:extLst>
                </a:gridCol>
                <a:gridCol w="725621">
                  <a:extLst>
                    <a:ext uri="{9D8B030D-6E8A-4147-A177-3AD203B41FA5}">
                      <a16:colId xmlns:a16="http://schemas.microsoft.com/office/drawing/2014/main" val="3811738061"/>
                    </a:ext>
                  </a:extLst>
                </a:gridCol>
              </a:tblGrid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474026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212890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897459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98242"/>
                  </a:ext>
                </a:extLst>
              </a:tr>
              <a:tr h="428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ES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16647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10AC5B2-0B3B-46DF-A738-5FCD3D28CC65}"/>
              </a:ext>
            </a:extLst>
          </p:cNvPr>
          <p:cNvSpPr txBox="1"/>
          <p:nvPr/>
        </p:nvSpPr>
        <p:spPr>
          <a:xfrm>
            <a:off x="-574936" y="1074604"/>
            <a:ext cx="4576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REJILLA DE RECURSOS DOMINIO TIEMPO / FRECUENCIA OFDM</a:t>
            </a:r>
            <a:endParaRPr lang="en-GB" sz="2000" u="sng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BD4BB3-D491-30C2-DD8A-C70D69B32C76}"/>
              </a:ext>
            </a:extLst>
          </p:cNvPr>
          <p:cNvSpPr txBox="1"/>
          <p:nvPr/>
        </p:nvSpPr>
        <p:spPr>
          <a:xfrm>
            <a:off x="-251549" y="2961578"/>
            <a:ext cx="4576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REJILLA DE RECURSOS DOMINIO DELAY / DOPPLER OTFS</a:t>
            </a:r>
            <a:endParaRPr lang="en-GB" sz="2000" u="sng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369AC8-6DD4-5E83-3D8F-28010953EB47}"/>
              </a:ext>
            </a:extLst>
          </p:cNvPr>
          <p:cNvSpPr txBox="1"/>
          <p:nvPr/>
        </p:nvSpPr>
        <p:spPr>
          <a:xfrm>
            <a:off x="4271178" y="3054840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latin typeface="Arial Black" panose="020B0A04020102020204" pitchFamily="34" charset="0"/>
              </a:rPr>
              <a:t>0</a:t>
            </a:r>
            <a:endParaRPr lang="en-GB" sz="1800" b="1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FF14E0B-CEA6-30DF-B3F1-67BD4E46EAB8}"/>
              </a:ext>
            </a:extLst>
          </p:cNvPr>
          <p:cNvSpPr/>
          <p:nvPr/>
        </p:nvSpPr>
        <p:spPr>
          <a:xfrm rot="16200000">
            <a:off x="5572833" y="2320882"/>
            <a:ext cx="93407" cy="197382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EDB3765C-5CCD-3A28-E72D-11994286078D}"/>
              </a:ext>
            </a:extLst>
          </p:cNvPr>
          <p:cNvSpPr/>
          <p:nvPr/>
        </p:nvSpPr>
        <p:spPr>
          <a:xfrm rot="16200000">
            <a:off x="5580209" y="5285089"/>
            <a:ext cx="93407" cy="197382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BAA18E-0330-8967-19AC-6C5D7692F25D}"/>
              </a:ext>
            </a:extLst>
          </p:cNvPr>
          <p:cNvSpPr txBox="1"/>
          <p:nvPr/>
        </p:nvSpPr>
        <p:spPr>
          <a:xfrm>
            <a:off x="7969211" y="3137075"/>
            <a:ext cx="1181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N-1</a:t>
            </a:r>
            <a:endParaRPr lang="en-GB" sz="1800" dirty="0"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280AB0-0385-7C51-CDC8-5F64BC552EF7}"/>
              </a:ext>
            </a:extLst>
          </p:cNvPr>
          <p:cNvSpPr txBox="1"/>
          <p:nvPr/>
        </p:nvSpPr>
        <p:spPr>
          <a:xfrm>
            <a:off x="3572997" y="1008566"/>
            <a:ext cx="758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latin typeface="Arial Black" panose="020B0A04020102020204" pitchFamily="34" charset="0"/>
              </a:rPr>
              <a:t>M-1</a:t>
            </a:r>
            <a:endParaRPr lang="en-GB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AF0CB6-7B5A-A3BD-9DF9-FD0BBCE8C0EF}"/>
              </a:ext>
            </a:extLst>
          </p:cNvPr>
          <p:cNvSpPr txBox="1"/>
          <p:nvPr/>
        </p:nvSpPr>
        <p:spPr>
          <a:xfrm>
            <a:off x="6187245" y="5963990"/>
            <a:ext cx="25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Arial Black" panose="020B0A04020102020204" pitchFamily="34" charset="0"/>
              </a:rPr>
              <a:t>2</a:t>
            </a:r>
            <a:endParaRPr lang="en-GB" sz="1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E589FC-C480-4C99-1720-BFA436E83DA2}"/>
              </a:ext>
            </a:extLst>
          </p:cNvPr>
          <p:cNvSpPr txBox="1"/>
          <p:nvPr/>
        </p:nvSpPr>
        <p:spPr>
          <a:xfrm>
            <a:off x="6926144" y="5962672"/>
            <a:ext cx="325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Arial Black" panose="020B0A04020102020204" pitchFamily="34" charset="0"/>
              </a:rPr>
              <a:t>3</a:t>
            </a:r>
            <a:endParaRPr lang="en-GB" sz="1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CD8678-9D42-FB6A-B753-875F9DC81538}"/>
              </a:ext>
            </a:extLst>
          </p:cNvPr>
          <p:cNvSpPr txBox="1"/>
          <p:nvPr/>
        </p:nvSpPr>
        <p:spPr>
          <a:xfrm>
            <a:off x="8425377" y="4324251"/>
            <a:ext cx="325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Arial Black" panose="020B0A04020102020204" pitchFamily="34" charset="0"/>
              </a:rPr>
              <a:t>1</a:t>
            </a:r>
            <a:endParaRPr lang="en-GB" sz="1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20B2A8-BBDE-5ED2-B3A9-CEA9E18E8022}"/>
              </a:ext>
            </a:extLst>
          </p:cNvPr>
          <p:cNvSpPr txBox="1"/>
          <p:nvPr/>
        </p:nvSpPr>
        <p:spPr>
          <a:xfrm>
            <a:off x="7997539" y="3904822"/>
            <a:ext cx="1181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N</a:t>
            </a:r>
            <a:r>
              <a:rPr lang="en-GB" sz="1800" dirty="0">
                <a:latin typeface="Arial Black" panose="020B0A04020102020204" pitchFamily="34" charset="0"/>
              </a:rPr>
              <a:t>/2</a:t>
            </a:r>
            <a:endParaRPr lang="es-ES" sz="1800" dirty="0">
              <a:latin typeface="Arial Black" panose="020B0A040201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59260E-18BB-BE5A-558A-4A947C52400A}"/>
              </a:ext>
            </a:extLst>
          </p:cNvPr>
          <p:cNvSpPr txBox="1"/>
          <p:nvPr/>
        </p:nvSpPr>
        <p:spPr>
          <a:xfrm>
            <a:off x="8060145" y="5646829"/>
            <a:ext cx="1181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-(N</a:t>
            </a:r>
            <a:r>
              <a:rPr lang="en-GB" sz="1800" dirty="0">
                <a:latin typeface="Arial Black" panose="020B0A04020102020204" pitchFamily="34" charset="0"/>
              </a:rPr>
              <a:t>/2)-1</a:t>
            </a:r>
            <a:endParaRPr lang="es-ES" sz="1800" dirty="0">
              <a:latin typeface="Arial Black" panose="020B0A040201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C1287F-99E3-35B1-8D09-5C81F084524C}"/>
              </a:ext>
            </a:extLst>
          </p:cNvPr>
          <p:cNvSpPr txBox="1"/>
          <p:nvPr/>
        </p:nvSpPr>
        <p:spPr>
          <a:xfrm>
            <a:off x="8383018" y="5206085"/>
            <a:ext cx="479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Arial Black" panose="020B0A04020102020204" pitchFamily="34" charset="0"/>
              </a:rPr>
              <a:t>-1</a:t>
            </a:r>
            <a:endParaRPr lang="en-GB" sz="1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4BC52-0854-A071-1531-1EA2BE390F50}"/>
              </a:ext>
            </a:extLst>
          </p:cNvPr>
          <p:cNvSpPr txBox="1"/>
          <p:nvPr/>
        </p:nvSpPr>
        <p:spPr>
          <a:xfrm>
            <a:off x="8453945" y="4800874"/>
            <a:ext cx="25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latin typeface="Arial Black" panose="020B0A04020102020204" pitchFamily="34" charset="0"/>
              </a:rPr>
              <a:t>0</a:t>
            </a:r>
            <a:endParaRPr lang="en-GB" sz="1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13A4EC-34A5-3485-D351-093C9BC2F479}"/>
              </a:ext>
            </a:extLst>
          </p:cNvPr>
          <p:cNvSpPr txBox="1"/>
          <p:nvPr/>
        </p:nvSpPr>
        <p:spPr>
          <a:xfrm>
            <a:off x="7244278" y="5971786"/>
            <a:ext cx="1181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M - 1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AF20AF-4FE2-0382-A485-3E738E7E92AF}"/>
              </a:ext>
            </a:extLst>
          </p:cNvPr>
          <p:cNvSpPr txBox="1"/>
          <p:nvPr/>
        </p:nvSpPr>
        <p:spPr>
          <a:xfrm>
            <a:off x="4325367" y="5963990"/>
            <a:ext cx="1181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6BDAD3-BE41-AF37-96A6-63DE75DD6875}"/>
              </a:ext>
            </a:extLst>
          </p:cNvPr>
          <p:cNvSpPr txBox="1"/>
          <p:nvPr/>
        </p:nvSpPr>
        <p:spPr>
          <a:xfrm>
            <a:off x="5365858" y="5963990"/>
            <a:ext cx="458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Arial Black" panose="020B0A04020102020204" pitchFamily="34" charset="0"/>
              </a:rPr>
              <a:t>1</a:t>
            </a:r>
            <a:endParaRPr lang="en-GB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37C660-9779-2F8E-BEF3-E2695896EA44}"/>
                  </a:ext>
                </a:extLst>
              </p:cNvPr>
              <p:cNvSpPr txBox="1"/>
              <p:nvPr/>
            </p:nvSpPr>
            <p:spPr>
              <a:xfrm>
                <a:off x="347032" y="3939231"/>
                <a:ext cx="1492250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s-E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GB" dirty="0"/>
                  <a:t> ;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37C660-9779-2F8E-BEF3-E2695896E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32" y="3939231"/>
                <a:ext cx="1492250" cy="629660"/>
              </a:xfrm>
              <a:prstGeom prst="rect">
                <a:avLst/>
              </a:prstGeom>
              <a:blipFill>
                <a:blip r:embed="rId4"/>
                <a:stretch>
                  <a:fillRect r="-3265" b="-8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1596DC7-3560-10B3-DE5E-C5527FDDAAE9}"/>
                  </a:ext>
                </a:extLst>
              </p:cNvPr>
              <p:cNvSpPr txBox="1"/>
              <p:nvPr/>
            </p:nvSpPr>
            <p:spPr>
              <a:xfrm>
                <a:off x="347032" y="4544699"/>
                <a:ext cx="1738137" cy="672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GB" b="1" i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GB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𝓵</m:t>
                        </m:r>
                      </m:num>
                      <m:den>
                        <m:d>
                          <m:d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𝑴</m:t>
                            </m:r>
                            <m:r>
                              <a:rPr lang="en-GB" b="1" i="0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GB" b="1" i="0">
                                <a:latin typeface="Cambria Math" panose="02040503050406030204" pitchFamily="18" charset="0"/>
                              </a:rPr>
                              <m:t>𝚫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den>
                    </m:f>
                  </m:oMath>
                </a14:m>
                <a:r>
                  <a:rPr lang="en-GB" b="1" dirty="0"/>
                  <a:t> ;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1596DC7-3560-10B3-DE5E-C5527FDDA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32" y="4544699"/>
                <a:ext cx="1738137" cy="672556"/>
              </a:xfrm>
              <a:prstGeom prst="rect">
                <a:avLst/>
              </a:prstGeom>
              <a:blipFill>
                <a:blip r:embed="rId5"/>
                <a:stretch>
                  <a:fillRect r="-3158" b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39B214-34FA-5069-01F6-1771C998F6AE}"/>
                  </a:ext>
                </a:extLst>
              </p:cNvPr>
              <p:cNvSpPr txBox="1"/>
              <p:nvPr/>
            </p:nvSpPr>
            <p:spPr>
              <a:xfrm>
                <a:off x="351974" y="5222238"/>
                <a:ext cx="20962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GB" b="1" i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GB" b="1" i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GB" b="1" i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b="1" dirty="0"/>
                  <a:t> ;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39B214-34FA-5069-01F6-1771C998F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74" y="5222238"/>
                <a:ext cx="2096258" cy="461665"/>
              </a:xfrm>
              <a:prstGeom prst="rect">
                <a:avLst/>
              </a:prstGeom>
              <a:blipFill>
                <a:blip r:embed="rId6"/>
                <a:stretch>
                  <a:fillRect l="-2616" t="-10667" r="-2326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72BA781-7169-8560-6B8A-09A897B54684}"/>
                  </a:ext>
                </a:extLst>
              </p:cNvPr>
              <p:cNvSpPr txBox="1"/>
              <p:nvPr/>
            </p:nvSpPr>
            <p:spPr>
              <a:xfrm>
                <a:off x="346658" y="5749434"/>
                <a:ext cx="1576384" cy="67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𝑮</m:t>
                        </m:r>
                      </m:num>
                      <m:den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𝜟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𝒇</m:t>
                        </m:r>
                      </m:den>
                    </m:f>
                  </m:oMath>
                </a14:m>
                <a:r>
                  <a:rPr lang="en-GB" b="1" dirty="0"/>
                  <a:t> ;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72BA781-7169-8560-6B8A-09A897B54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58" y="5749434"/>
                <a:ext cx="1576384" cy="673133"/>
              </a:xfrm>
              <a:prstGeom prst="rect">
                <a:avLst/>
              </a:prstGeom>
              <a:blipFill>
                <a:blip r:embed="rId7"/>
                <a:stretch>
                  <a:fillRect r="-3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9D1F4B60-0A97-0850-3344-650D003ED1E8}"/>
              </a:ext>
            </a:extLst>
          </p:cNvPr>
          <p:cNvSpPr/>
          <p:nvPr/>
        </p:nvSpPr>
        <p:spPr>
          <a:xfrm>
            <a:off x="6926144" y="3935665"/>
            <a:ext cx="325424" cy="1068954"/>
          </a:xfrm>
          <a:prstGeom prst="triangl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F34EF23C-4546-86BD-341F-C8908C83BFC0}"/>
              </a:ext>
            </a:extLst>
          </p:cNvPr>
          <p:cNvSpPr/>
          <p:nvPr/>
        </p:nvSpPr>
        <p:spPr>
          <a:xfrm>
            <a:off x="5506466" y="4716447"/>
            <a:ext cx="248344" cy="748239"/>
          </a:xfrm>
          <a:prstGeom prst="triangl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77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3" grpId="0"/>
      <p:bldP spid="19" grpId="0"/>
      <p:bldP spid="29" grpId="0" animBg="1"/>
      <p:bldP spid="35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8" grpId="0"/>
      <p:bldP spid="50" grpId="0"/>
      <p:bldP spid="52" grpId="0"/>
      <p:bldP spid="58" grpId="0"/>
      <p:bldP spid="59" grpId="0" animBg="1"/>
      <p:bldP spid="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FC63-21B1-9103-0A51-9A8AE8C7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anal&#10;&#10;AI-generated content may be incorrect.">
            <a:extLst>
              <a:ext uri="{FF2B5EF4-FFF2-40B4-BE49-F238E27FC236}">
                <a16:creationId xmlns:a16="http://schemas.microsoft.com/office/drawing/2014/main" id="{4238BED1-2815-0991-BF56-C4E8E3240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" t="8962" b="10393"/>
          <a:stretch>
            <a:fillRect/>
          </a:stretch>
        </p:blipFill>
        <p:spPr>
          <a:xfrm>
            <a:off x="0" y="1206651"/>
            <a:ext cx="8703912" cy="51205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2A4967-16BD-8142-0A22-9B2CF5360061}"/>
              </a:ext>
            </a:extLst>
          </p:cNvPr>
          <p:cNvSpPr txBox="1"/>
          <p:nvPr/>
        </p:nvSpPr>
        <p:spPr>
          <a:xfrm>
            <a:off x="1241323" y="229484"/>
            <a:ext cx="4645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Simulador canal Doppler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61367-540C-1685-85FE-E3A842556A52}"/>
              </a:ext>
            </a:extLst>
          </p:cNvPr>
          <p:cNvSpPr txBox="1"/>
          <p:nvPr/>
        </p:nvSpPr>
        <p:spPr>
          <a:xfrm>
            <a:off x="5664002" y="2197894"/>
            <a:ext cx="473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sz="2400" b="1" u="sng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DOPPLER</a:t>
            </a:r>
            <a:endParaRPr lang="en-GB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BC353-1D94-E43D-A0F0-78292DE77745}"/>
              </a:ext>
            </a:extLst>
          </p:cNvPr>
          <p:cNvSpPr txBox="1"/>
          <p:nvPr/>
        </p:nvSpPr>
        <p:spPr>
          <a:xfrm>
            <a:off x="5664002" y="2659559"/>
            <a:ext cx="45758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sz="22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ESQUEMA EJEMPLO SIMULADOR MATLAB</a:t>
            </a:r>
            <a:endParaRPr lang="en-GB" sz="220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5E79769-C95E-2E49-5C64-C5F08C0D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9407" y="6254699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07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8328-ADE9-8D6F-5712-02635932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79AC23E5-9CB7-C0E4-A7A9-49D8C351F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" r="1192" b="3597"/>
          <a:stretch>
            <a:fillRect/>
          </a:stretch>
        </p:blipFill>
        <p:spPr>
          <a:xfrm>
            <a:off x="100765" y="1004703"/>
            <a:ext cx="8357435" cy="56240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CA4608-2888-D411-7645-A268087FE16F}"/>
              </a:ext>
            </a:extLst>
          </p:cNvPr>
          <p:cNvSpPr txBox="1"/>
          <p:nvPr/>
        </p:nvSpPr>
        <p:spPr>
          <a:xfrm>
            <a:off x="1187245" y="231042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Simulador canal Doppler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CCEF889-A87C-7F61-6979-C6C2E409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97690" y="6297020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11</a:t>
            </a:fld>
            <a:endParaRPr lang="es-E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C1AD5D-6DEB-D6AD-D337-AE641387A90D}"/>
              </a:ext>
            </a:extLst>
          </p:cNvPr>
          <p:cNvCxnSpPr>
            <a:cxnSpLocks/>
          </p:cNvCxnSpPr>
          <p:nvPr/>
        </p:nvCxnSpPr>
        <p:spPr>
          <a:xfrm>
            <a:off x="883658" y="3274422"/>
            <a:ext cx="0" cy="1008000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2B564EA-5966-8523-926B-6CCDD5E7D09F}"/>
              </a:ext>
            </a:extLst>
          </p:cNvPr>
          <p:cNvSpPr txBox="1"/>
          <p:nvPr/>
        </p:nvSpPr>
        <p:spPr>
          <a:xfrm>
            <a:off x="5682910" y="2015929"/>
            <a:ext cx="4426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MEJORAS DEL </a:t>
            </a:r>
          </a:p>
          <a:p>
            <a:r>
              <a:rPr lang="en-US" altLang="es-E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EJEMPLO MATLAB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E5937B-5588-BD96-6F97-D0B65F977C3F}"/>
              </a:ext>
            </a:extLst>
          </p:cNvPr>
          <p:cNvCxnSpPr>
            <a:cxnSpLocks/>
          </p:cNvCxnSpPr>
          <p:nvPr/>
        </p:nvCxnSpPr>
        <p:spPr>
          <a:xfrm flipH="1">
            <a:off x="5986519" y="4052174"/>
            <a:ext cx="1271014" cy="0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EED62B-477D-C7DA-DA5C-83378E98A3F6}"/>
              </a:ext>
            </a:extLst>
          </p:cNvPr>
          <p:cNvCxnSpPr>
            <a:cxnSpLocks/>
          </p:cNvCxnSpPr>
          <p:nvPr/>
        </p:nvCxnSpPr>
        <p:spPr>
          <a:xfrm flipH="1">
            <a:off x="7579131" y="3274422"/>
            <a:ext cx="1091186" cy="0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31C880-FCA5-0AD1-5F25-6415F1826461}"/>
              </a:ext>
            </a:extLst>
          </p:cNvPr>
          <p:cNvSpPr txBox="1"/>
          <p:nvPr/>
        </p:nvSpPr>
        <p:spPr>
          <a:xfrm>
            <a:off x="5682910" y="1418967"/>
            <a:ext cx="473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sz="2400" b="1" u="sng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DOPPLER</a:t>
            </a:r>
            <a:endParaRPr lang="en-GB" u="sn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9487AF-E375-EB0C-FEE1-0EFFD8D5CDFA}"/>
              </a:ext>
            </a:extLst>
          </p:cNvPr>
          <p:cNvCxnSpPr>
            <a:cxnSpLocks/>
          </p:cNvCxnSpPr>
          <p:nvPr/>
        </p:nvCxnSpPr>
        <p:spPr>
          <a:xfrm flipH="1">
            <a:off x="8094938" y="4949236"/>
            <a:ext cx="726524" cy="999258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49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C2BB-9CAE-2080-C338-A78A1014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flowchart&#10;&#10;AI-generated content may be incorrect.">
            <a:extLst>
              <a:ext uri="{FF2B5EF4-FFF2-40B4-BE49-F238E27FC236}">
                <a16:creationId xmlns:a16="http://schemas.microsoft.com/office/drawing/2014/main" id="{E462339D-3968-A6F9-1336-8FE78DF1F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" t="3443" r="8342" b="2645"/>
          <a:stretch>
            <a:fillRect/>
          </a:stretch>
        </p:blipFill>
        <p:spPr>
          <a:xfrm>
            <a:off x="176981" y="1083972"/>
            <a:ext cx="7305367" cy="545312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DD4A2B-2A81-CB7F-A528-E84EE09907CE}"/>
              </a:ext>
            </a:extLst>
          </p:cNvPr>
          <p:cNvCxnSpPr>
            <a:cxnSpLocks/>
          </p:cNvCxnSpPr>
          <p:nvPr/>
        </p:nvCxnSpPr>
        <p:spPr>
          <a:xfrm flipH="1" flipV="1">
            <a:off x="4976195" y="2067427"/>
            <a:ext cx="1270512" cy="616780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D1D404-D644-1BF7-25FF-271E46D959E5}"/>
              </a:ext>
            </a:extLst>
          </p:cNvPr>
          <p:cNvCxnSpPr>
            <a:cxnSpLocks/>
          </p:cNvCxnSpPr>
          <p:nvPr/>
        </p:nvCxnSpPr>
        <p:spPr>
          <a:xfrm flipH="1">
            <a:off x="7389530" y="3004773"/>
            <a:ext cx="904568" cy="661413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A42FE3-DC4B-BB76-1594-D1820CB141CA}"/>
              </a:ext>
            </a:extLst>
          </p:cNvPr>
          <p:cNvCxnSpPr>
            <a:cxnSpLocks/>
          </p:cNvCxnSpPr>
          <p:nvPr/>
        </p:nvCxnSpPr>
        <p:spPr>
          <a:xfrm flipH="1">
            <a:off x="6433520" y="4383115"/>
            <a:ext cx="1597386" cy="0"/>
          </a:xfrm>
          <a:prstGeom prst="straightConnector1">
            <a:avLst/>
          </a:prstGeom>
          <a:ln w="41275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B042B4-3DF1-DA52-7D5F-AE2A7471E1ED}"/>
              </a:ext>
            </a:extLst>
          </p:cNvPr>
          <p:cNvSpPr txBox="1"/>
          <p:nvPr/>
        </p:nvSpPr>
        <p:spPr>
          <a:xfrm>
            <a:off x="1256071" y="165609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Simulador canal TDL y CDL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EAE71B-54CB-F348-8D8F-6D7B3769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0346E6-6612-D0EA-50EF-F9B6D2C72F6F}"/>
              </a:ext>
            </a:extLst>
          </p:cNvPr>
          <p:cNvSpPr txBox="1"/>
          <p:nvPr/>
        </p:nvSpPr>
        <p:spPr>
          <a:xfrm>
            <a:off x="5742448" y="1749103"/>
            <a:ext cx="4576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sz="2400" b="1" u="sng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</a:t>
            </a:r>
            <a:r>
              <a:rPr lang="en-US" altLang="es-ES" b="1" u="sng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TDL Y CDL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77563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CD392-E3C2-8D97-6841-72048332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367" y="1713867"/>
            <a:ext cx="1810003" cy="4553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0D7757-569F-8A09-B64C-5BEBB4BB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880" y="1713867"/>
            <a:ext cx="2829320" cy="4534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53C27-CFCF-0664-D8DE-078D87B4F8F3}"/>
              </a:ext>
            </a:extLst>
          </p:cNvPr>
          <p:cNvSpPr txBox="1"/>
          <p:nvPr/>
        </p:nvSpPr>
        <p:spPr>
          <a:xfrm>
            <a:off x="351399" y="1267100"/>
            <a:ext cx="4576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r>
              <a:rPr lang="es-ES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esultados</a:t>
            </a:r>
            <a:endParaRPr lang="es-ES_tradnl" altLang="es-E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A498C-71F1-C927-C6CD-E46397DCD7C1}"/>
              </a:ext>
            </a:extLst>
          </p:cNvPr>
          <p:cNvSpPr txBox="1"/>
          <p:nvPr/>
        </p:nvSpPr>
        <p:spPr>
          <a:xfrm>
            <a:off x="-324464" y="2750106"/>
            <a:ext cx="4576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PARÁMETROS PARA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SIMULACIONES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ACE6C-3618-2978-EF3E-15C35731808D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FA54FE-64F1-84A8-C6A7-9560332F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26921D5-E55C-367E-DEC3-71E0E9CC0108}"/>
              </a:ext>
            </a:extLst>
          </p:cNvPr>
          <p:cNvSpPr/>
          <p:nvPr/>
        </p:nvSpPr>
        <p:spPr>
          <a:xfrm rot="14949499">
            <a:off x="3200949" y="4042554"/>
            <a:ext cx="235685" cy="11698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ADA0F16-7F59-7700-2D45-96EFFDFAA28A}"/>
              </a:ext>
            </a:extLst>
          </p:cNvPr>
          <p:cNvSpPr/>
          <p:nvPr/>
        </p:nvSpPr>
        <p:spPr>
          <a:xfrm rot="14949499">
            <a:off x="3200948" y="4452668"/>
            <a:ext cx="235685" cy="11698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15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C914C-0E72-830C-9663-4A6F4202977B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1DB88-0685-D5AD-CB08-1AB130E2A7C4}"/>
              </a:ext>
            </a:extLst>
          </p:cNvPr>
          <p:cNvSpPr txBox="1"/>
          <p:nvPr/>
        </p:nvSpPr>
        <p:spPr>
          <a:xfrm>
            <a:off x="6043150" y="1144781"/>
            <a:ext cx="386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010C8-D7B8-9EED-65A0-84152FA17EA6}"/>
              </a:ext>
            </a:extLst>
          </p:cNvPr>
          <p:cNvSpPr txBox="1"/>
          <p:nvPr/>
        </p:nvSpPr>
        <p:spPr>
          <a:xfrm>
            <a:off x="5327854" y="5144013"/>
            <a:ext cx="45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69F5-76B0-D37F-A091-1FB158071990}"/>
              </a:ext>
            </a:extLst>
          </p:cNvPr>
          <p:cNvSpPr txBox="1"/>
          <p:nvPr/>
        </p:nvSpPr>
        <p:spPr>
          <a:xfrm>
            <a:off x="273336" y="1144781"/>
            <a:ext cx="8578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DOPPLER - ESTUDIO BER VS SNR: ALTA MOVILIDAD 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76C289-4878-61CD-E6E7-7F852D8B7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0"/>
          <a:stretch>
            <a:fillRect/>
          </a:stretch>
        </p:blipFill>
        <p:spPr>
          <a:xfrm>
            <a:off x="629839" y="3696034"/>
            <a:ext cx="6986473" cy="23894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2B4B94-A045-6958-B137-3F5B44A24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84" y="2154598"/>
            <a:ext cx="7785228" cy="1156501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694CBA0-8D12-20D6-F7D7-3B37951A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6920" y="6169957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14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D14A2B-D000-7323-462D-55E038581D6F}"/>
                  </a:ext>
                </a:extLst>
              </p:cNvPr>
              <p:cNvSpPr txBox="1"/>
              <p:nvPr/>
            </p:nvSpPr>
            <p:spPr>
              <a:xfrm>
                <a:off x="6344920" y="3696034"/>
                <a:ext cx="1714500" cy="66037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GB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0">
                            <a:latin typeface="Cambria Math" panose="020405030504060302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en-GB" b="1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num>
                      <m:den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GB" b="1" i="0">
                            <a:latin typeface="Cambria Math" panose="02040503050406030204" pitchFamily="18" charset="0"/>
                          </a:rPr>
                          <m:t> · 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GB" b="1" i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GB" b="1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D14A2B-D000-7323-462D-55E038581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20" y="3696034"/>
                <a:ext cx="1714500" cy="660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row: Down 28">
            <a:extLst>
              <a:ext uri="{FF2B5EF4-FFF2-40B4-BE49-F238E27FC236}">
                <a16:creationId xmlns:a16="http://schemas.microsoft.com/office/drawing/2014/main" id="{0AB84045-1134-5F89-DDDC-61F665F4FA34}"/>
              </a:ext>
            </a:extLst>
          </p:cNvPr>
          <p:cNvSpPr/>
          <p:nvPr/>
        </p:nvSpPr>
        <p:spPr>
          <a:xfrm rot="2434703">
            <a:off x="4445052" y="3618553"/>
            <a:ext cx="173003" cy="11123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779BF-91CF-E109-6F77-D89E16061D2D}"/>
              </a:ext>
            </a:extLst>
          </p:cNvPr>
          <p:cNvSpPr txBox="1"/>
          <p:nvPr/>
        </p:nvSpPr>
        <p:spPr>
          <a:xfrm>
            <a:off x="3426541" y="3234369"/>
            <a:ext cx="495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LINEA VISION DIRECTA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29260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A830-544D-EA02-8D0A-575141D7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669DE1-9424-F7BD-F858-084FF5CDB19C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6D61A-8F22-4CFF-680C-EC044A208D84}"/>
              </a:ext>
            </a:extLst>
          </p:cNvPr>
          <p:cNvSpPr txBox="1"/>
          <p:nvPr/>
        </p:nvSpPr>
        <p:spPr>
          <a:xfrm>
            <a:off x="6043150" y="1144781"/>
            <a:ext cx="386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49D2E-5F2F-1C28-702E-306E1DB73A36}"/>
              </a:ext>
            </a:extLst>
          </p:cNvPr>
          <p:cNvSpPr txBox="1"/>
          <p:nvPr/>
        </p:nvSpPr>
        <p:spPr>
          <a:xfrm>
            <a:off x="5327854" y="5144013"/>
            <a:ext cx="45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335DBB-0F9A-66D9-59E6-99504605655F}"/>
              </a:ext>
            </a:extLst>
          </p:cNvPr>
          <p:cNvSpPr txBox="1"/>
          <p:nvPr/>
        </p:nvSpPr>
        <p:spPr>
          <a:xfrm>
            <a:off x="273336" y="1144781"/>
            <a:ext cx="8578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DOPPLER - ESTUDIO BER VS SNR: ALTA MOVILIDAD </a:t>
            </a:r>
            <a:endParaRPr lang="en-GB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4B3186-545C-137E-A155-1F69AF812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674"/>
          <a:stretch>
            <a:fillRect/>
          </a:stretch>
        </p:blipFill>
        <p:spPr>
          <a:xfrm>
            <a:off x="3816147" y="2476664"/>
            <a:ext cx="5019368" cy="36932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F71C15-DAAB-3385-4FA5-BD6304958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62" y="1794399"/>
            <a:ext cx="5489158" cy="544079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226DA73-5629-C167-F4BA-6551A672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6920" y="6169957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15</a:t>
            </a:fld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852A4-F703-DB50-BE70-6383F58035E9}"/>
              </a:ext>
            </a:extLst>
          </p:cNvPr>
          <p:cNvSpPr txBox="1"/>
          <p:nvPr/>
        </p:nvSpPr>
        <p:spPr>
          <a:xfrm>
            <a:off x="587476" y="1765491"/>
            <a:ext cx="495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Parámetros</a:t>
            </a:r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: 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93C20-C134-6042-671E-765A070D5469}"/>
              </a:ext>
            </a:extLst>
          </p:cNvPr>
          <p:cNvSpPr txBox="1"/>
          <p:nvPr/>
        </p:nvSpPr>
        <p:spPr>
          <a:xfrm>
            <a:off x="166921" y="3429000"/>
            <a:ext cx="34728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Vemos como para alta movilidad en el canal Doppler, OTFS responde mucho mejor que OFDM para cualquier valor de SNR.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3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DC55-487A-D343-E208-741BA07D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20FC7-136C-32F1-600F-51E3AC99DFB0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6B4BD-8742-B529-9CF7-42D8CAF37A49}"/>
              </a:ext>
            </a:extLst>
          </p:cNvPr>
          <p:cNvSpPr txBox="1"/>
          <p:nvPr/>
        </p:nvSpPr>
        <p:spPr>
          <a:xfrm>
            <a:off x="6043150" y="1144781"/>
            <a:ext cx="386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8FE93-337F-448D-DB8B-DB4DC80517D0}"/>
              </a:ext>
            </a:extLst>
          </p:cNvPr>
          <p:cNvSpPr txBox="1"/>
          <p:nvPr/>
        </p:nvSpPr>
        <p:spPr>
          <a:xfrm>
            <a:off x="5327854" y="5144013"/>
            <a:ext cx="45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3D514-BB61-F809-576B-9D9B0035A739}"/>
              </a:ext>
            </a:extLst>
          </p:cNvPr>
          <p:cNvSpPr txBox="1"/>
          <p:nvPr/>
        </p:nvSpPr>
        <p:spPr>
          <a:xfrm>
            <a:off x="273336" y="1144781"/>
            <a:ext cx="887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TDL - ESTUDIO BER VS SNR: </a:t>
            </a:r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Desplazamiento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Doppler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5DA3D-5A2E-DAF5-8B2C-B4E6A9A53CEB}"/>
              </a:ext>
            </a:extLst>
          </p:cNvPr>
          <p:cNvSpPr txBox="1"/>
          <p:nvPr/>
        </p:nvSpPr>
        <p:spPr>
          <a:xfrm>
            <a:off x="273336" y="2912744"/>
            <a:ext cx="4914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Dispersión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temporal baja</a:t>
            </a:r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20DBBD-1AAD-8EC1-49AB-EE1F66E9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4" y="3636801"/>
            <a:ext cx="4420027" cy="11378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F721B7-BA61-E1A3-42C2-A67B4419D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40" y="2192786"/>
            <a:ext cx="4420026" cy="3302673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69A96E3-93AB-1AB3-A805-A92A55CC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0893D-76E9-B09F-F4B2-8A6A37C1F92B}"/>
              </a:ext>
            </a:extLst>
          </p:cNvPr>
          <p:cNvSpPr txBox="1"/>
          <p:nvPr/>
        </p:nvSpPr>
        <p:spPr>
          <a:xfrm>
            <a:off x="250489" y="4924961"/>
            <a:ext cx="4131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Observamos que en este caso OTFS tiene mejor rendimiento que OFDM salvo en últimos valores de SNR.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56CECC-6DD1-4FA5-CAB4-1731051388D8}"/>
              </a:ext>
            </a:extLst>
          </p:cNvPr>
          <p:cNvSpPr txBox="1"/>
          <p:nvPr/>
        </p:nvSpPr>
        <p:spPr>
          <a:xfrm>
            <a:off x="273336" y="1915548"/>
            <a:ext cx="1051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SINR :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F40DA0-F431-C6D8-5ECC-8A5830B76A7D}"/>
                  </a:ext>
                </a:extLst>
              </p:cNvPr>
              <p:cNvSpPr txBox="1"/>
              <p:nvPr/>
            </p:nvSpPr>
            <p:spPr>
              <a:xfrm>
                <a:off x="496047" y="1739936"/>
                <a:ext cx="4950542" cy="89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𝑺𝑰𝑵</m:t>
                      </m:r>
                      <m:sSub>
                        <m:sSubPr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𝒔𝒍𝒐𝒕</m:t>
                          </m:r>
                        </m:sub>
                      </m:sSub>
                      <m:r>
                        <a:rPr lang="en-GB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𝒎𝒆𝒂𝒏</m:t>
                          </m:r>
                          <m:d>
                            <m:dPr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sz="2000" b="1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GB" sz="2000" b="1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  <m:r>
                                        <a:rPr lang="en-GB" sz="2000" b="1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F40DA0-F431-C6D8-5ECC-8A5830B76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47" y="1739936"/>
                <a:ext cx="4950542" cy="899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076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5024-1CFB-61D4-30E9-93273D66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AABB3-1990-3017-A237-AA33C66BB8B0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81561-D905-B188-6BB8-BE1EF4E1FD2D}"/>
              </a:ext>
            </a:extLst>
          </p:cNvPr>
          <p:cNvSpPr txBox="1"/>
          <p:nvPr/>
        </p:nvSpPr>
        <p:spPr>
          <a:xfrm>
            <a:off x="6043150" y="1144781"/>
            <a:ext cx="386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2DCC3-1A11-48E4-622C-FD15AC0459B8}"/>
              </a:ext>
            </a:extLst>
          </p:cNvPr>
          <p:cNvSpPr txBox="1"/>
          <p:nvPr/>
        </p:nvSpPr>
        <p:spPr>
          <a:xfrm>
            <a:off x="5327854" y="5144013"/>
            <a:ext cx="45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0E584-2A45-6C04-25AD-40F348471AFE}"/>
              </a:ext>
            </a:extLst>
          </p:cNvPr>
          <p:cNvSpPr txBox="1"/>
          <p:nvPr/>
        </p:nvSpPr>
        <p:spPr>
          <a:xfrm>
            <a:off x="273336" y="1144781"/>
            <a:ext cx="887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TDL - ESTUDIO BER VS SNR: </a:t>
            </a:r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Desplazamiento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Doppler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3BA39-32BB-4BC8-19B2-134F71C18203}"/>
              </a:ext>
            </a:extLst>
          </p:cNvPr>
          <p:cNvSpPr txBox="1"/>
          <p:nvPr/>
        </p:nvSpPr>
        <p:spPr>
          <a:xfrm>
            <a:off x="270441" y="2247554"/>
            <a:ext cx="4914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Dispersión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temporal media</a:t>
            </a:r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45CC9D-69A1-383A-8B41-D59BED1B9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572"/>
          <a:stretch>
            <a:fillRect/>
          </a:stretch>
        </p:blipFill>
        <p:spPr>
          <a:xfrm>
            <a:off x="136512" y="2709141"/>
            <a:ext cx="4369796" cy="2635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6F6A39-9F2C-533E-4582-67F5FA53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41" y="2186064"/>
            <a:ext cx="4409699" cy="3327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EB99DA-D6DA-3D3C-F3B1-821B6406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0" y="2921037"/>
            <a:ext cx="4409700" cy="89236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25E3457-3954-8ECE-0D56-62C08E2A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D4B16-3635-4B88-333E-D078E9200E6D}"/>
              </a:ext>
            </a:extLst>
          </p:cNvPr>
          <p:cNvSpPr txBox="1"/>
          <p:nvPr/>
        </p:nvSpPr>
        <p:spPr>
          <a:xfrm>
            <a:off x="270441" y="4074931"/>
            <a:ext cx="4131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En este caso OFDM y OTFS tienen un rendimiento muy similar, aunque OTFS obtiene mejor rendimiento en gran parte de los valores.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26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6D1C-49E8-CCEC-025C-F9C96D9BD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A4D967-4205-ADE6-A2A6-E73C9DB67A54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FFA64-1D32-CCBC-4042-AE2586D2C6B4}"/>
              </a:ext>
            </a:extLst>
          </p:cNvPr>
          <p:cNvSpPr txBox="1"/>
          <p:nvPr/>
        </p:nvSpPr>
        <p:spPr>
          <a:xfrm>
            <a:off x="6043150" y="1144781"/>
            <a:ext cx="386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E66BF-0A3E-173F-D393-0D773E2BB1D3}"/>
              </a:ext>
            </a:extLst>
          </p:cNvPr>
          <p:cNvSpPr txBox="1"/>
          <p:nvPr/>
        </p:nvSpPr>
        <p:spPr>
          <a:xfrm>
            <a:off x="5327854" y="5144013"/>
            <a:ext cx="45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5409FC-A247-7066-4DB2-B026FFDC8AF2}"/>
              </a:ext>
            </a:extLst>
          </p:cNvPr>
          <p:cNvSpPr txBox="1"/>
          <p:nvPr/>
        </p:nvSpPr>
        <p:spPr>
          <a:xfrm>
            <a:off x="507016" y="1113822"/>
            <a:ext cx="887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CDL - ESTUDIO BER VS SNR: </a:t>
            </a:r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Dispesión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Temporal 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7DE2C-9D06-E7B0-0903-6460DECE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008" y="2075737"/>
            <a:ext cx="4577549" cy="3472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63C0C-E9A2-B510-BAB6-0FCD6E902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250" t="335" r="-236" b="78898"/>
          <a:stretch>
            <a:fillRect/>
          </a:stretch>
        </p:blipFill>
        <p:spPr>
          <a:xfrm>
            <a:off x="-137160" y="2768640"/>
            <a:ext cx="4478168" cy="2224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F21B3F-F5B1-960B-0BBC-129549E4CF84}"/>
              </a:ext>
            </a:extLst>
          </p:cNvPr>
          <p:cNvSpPr txBox="1"/>
          <p:nvPr/>
        </p:nvSpPr>
        <p:spPr>
          <a:xfrm>
            <a:off x="275794" y="2175586"/>
            <a:ext cx="5052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Dispersión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temporal baja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E83DB-3E5E-B97C-6C07-DF22001D6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6" y="2764603"/>
            <a:ext cx="4246582" cy="861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139DE2-7E42-6FD5-A17E-A55546A71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814" y="2075737"/>
            <a:ext cx="4588453" cy="3468386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35B5812-9356-C7DE-A10A-B1C23C03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670D5F-E3EA-CC72-C68F-F7EF0C83C4AF}"/>
              </a:ext>
            </a:extLst>
          </p:cNvPr>
          <p:cNvSpPr txBox="1"/>
          <p:nvPr/>
        </p:nvSpPr>
        <p:spPr>
          <a:xfrm>
            <a:off x="230298" y="4232534"/>
            <a:ext cx="4131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Vemos como en baja movilidad OTFS se presenta totalmente superior, pero en alta movilidad lo es solo parcialmente.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10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99F6-8CC4-5899-08B0-BC256804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8AD70-DCA1-2D07-4288-A643ED50F42F}"/>
              </a:ext>
            </a:extLst>
          </p:cNvPr>
          <p:cNvSpPr txBox="1"/>
          <p:nvPr/>
        </p:nvSpPr>
        <p:spPr>
          <a:xfrm>
            <a:off x="1324896" y="221451"/>
            <a:ext cx="457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A3700-4C6F-8500-738B-4E971379D614}"/>
              </a:ext>
            </a:extLst>
          </p:cNvPr>
          <p:cNvSpPr txBox="1"/>
          <p:nvPr/>
        </p:nvSpPr>
        <p:spPr>
          <a:xfrm>
            <a:off x="6043150" y="1144781"/>
            <a:ext cx="386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83EB4-35A3-3448-0077-442E1EE9D52D}"/>
              </a:ext>
            </a:extLst>
          </p:cNvPr>
          <p:cNvSpPr txBox="1"/>
          <p:nvPr/>
        </p:nvSpPr>
        <p:spPr>
          <a:xfrm>
            <a:off x="5327854" y="5144013"/>
            <a:ext cx="45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98385-5D05-1613-4AAA-3358320E021C}"/>
              </a:ext>
            </a:extLst>
          </p:cNvPr>
          <p:cNvSpPr txBox="1"/>
          <p:nvPr/>
        </p:nvSpPr>
        <p:spPr>
          <a:xfrm>
            <a:off x="507016" y="1113822"/>
            <a:ext cx="887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CANAL CDL - ESTUDIO BER VS SNR: </a:t>
            </a:r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Dispesión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Temporal 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E7E89-1BDB-7C78-4798-A4BC22D0D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008" y="2075737"/>
            <a:ext cx="4577549" cy="3472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1C815D-7BA6-C23B-B0DF-7B284A764915}"/>
              </a:ext>
            </a:extLst>
          </p:cNvPr>
          <p:cNvSpPr txBox="1"/>
          <p:nvPr/>
        </p:nvSpPr>
        <p:spPr>
          <a:xfrm>
            <a:off x="232200" y="2333727"/>
            <a:ext cx="5052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Dispersión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temporal media</a:t>
            </a:r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7336C5-BA19-5440-8BD2-6D5707EE3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008" y="2075738"/>
            <a:ext cx="4570792" cy="3468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54B40D-3E86-56FE-FE3D-36FFF501E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35" y="2781234"/>
            <a:ext cx="4168477" cy="2105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5A520B-1AD5-D849-981E-1B635ECE9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0" y="2979803"/>
            <a:ext cx="4213412" cy="669189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F8C79FC-6733-ABEA-EB89-EF541741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19</a:t>
            </a:fld>
            <a:endParaRPr lang="es-E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613A7-2110-7102-2449-AB2B50AEAF33}"/>
              </a:ext>
            </a:extLst>
          </p:cNvPr>
          <p:cNvSpPr txBox="1"/>
          <p:nvPr/>
        </p:nvSpPr>
        <p:spPr>
          <a:xfrm>
            <a:off x="209492" y="3933343"/>
            <a:ext cx="4131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 una dispersión temporal media, OFDM se presenta superior a OTFS en gran parte de la gráfica.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43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BE5E-279C-4143-FB5D-66CCC8FA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F299E-36B7-54FE-DD0F-6F3DC4CAF56D}"/>
              </a:ext>
            </a:extLst>
          </p:cNvPr>
          <p:cNvSpPr txBox="1"/>
          <p:nvPr/>
        </p:nvSpPr>
        <p:spPr>
          <a:xfrm>
            <a:off x="127819" y="1229298"/>
            <a:ext cx="926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RESPUESTA AL CANAL DOMINIO RETARDO-DOPPLER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4F6FE-1FB3-F204-7682-C8F7630A8EC4}"/>
              </a:ext>
            </a:extLst>
          </p:cNvPr>
          <p:cNvSpPr txBox="1"/>
          <p:nvPr/>
        </p:nvSpPr>
        <p:spPr>
          <a:xfrm>
            <a:off x="1366683" y="191955"/>
            <a:ext cx="4817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  <a:endParaRPr lang="es-AR" altLang="es-ES"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2D2EEC-4AA9-4EC9-BD32-25A38AC26CD7}"/>
              </a:ext>
            </a:extLst>
          </p:cNvPr>
          <p:cNvSpPr txBox="1"/>
          <p:nvPr/>
        </p:nvSpPr>
        <p:spPr>
          <a:xfrm>
            <a:off x="339393" y="1829822"/>
            <a:ext cx="2379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Parámetros</a:t>
            </a:r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: 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149F416-7B76-97D1-766E-CA4059EB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4789" y="6252067"/>
            <a:ext cx="1905000" cy="457200"/>
          </a:xfrm>
        </p:spPr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20</a:t>
            </a:fld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BFE59-5891-BAF9-8110-2FF2FD82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6" y="2291487"/>
            <a:ext cx="5415857" cy="405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3DBAF6-EF21-08F9-4D1A-A35507FE6A0F}"/>
                  </a:ext>
                </a:extLst>
              </p:cNvPr>
              <p:cNvSpPr txBox="1"/>
              <p:nvPr/>
            </p:nvSpPr>
            <p:spPr>
              <a:xfrm>
                <a:off x="2410869" y="1792552"/>
                <a:ext cx="46939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𝐷𝑆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𝐷𝐹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3DBAF6-EF21-08F9-4D1A-A35507FE6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869" y="1792552"/>
                <a:ext cx="469392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B328966-21D9-0C18-5885-B2FE20AFB963}"/>
              </a:ext>
            </a:extLst>
          </p:cNvPr>
          <p:cNvSpPr txBox="1"/>
          <p:nvPr/>
        </p:nvSpPr>
        <p:spPr>
          <a:xfrm>
            <a:off x="127819" y="3300447"/>
            <a:ext cx="32249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Observamos mucho ruido por ello estudiamos el parámetro de umbral de ganancia (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dirty="0"/>
              <a:t>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718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3CF4C-2D4C-8C42-E3A5-8F05D4C1696B}"/>
              </a:ext>
            </a:extLst>
          </p:cNvPr>
          <p:cNvSpPr txBox="1"/>
          <p:nvPr/>
        </p:nvSpPr>
        <p:spPr>
          <a:xfrm>
            <a:off x="710871" y="1236284"/>
            <a:ext cx="8924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ESTUDIO DEL UMBRAL DE GANANCIA OTFS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4470E-BA5C-DDF4-B64A-57675312E2B0}"/>
              </a:ext>
            </a:extLst>
          </p:cNvPr>
          <p:cNvSpPr txBox="1"/>
          <p:nvPr/>
        </p:nvSpPr>
        <p:spPr>
          <a:xfrm>
            <a:off x="1366683" y="191955"/>
            <a:ext cx="4817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  <a:endParaRPr lang="es-AR" altLang="es-ES"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8F7977-AD15-B253-B7D9-09F22DB3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84" y="2448571"/>
            <a:ext cx="2587013" cy="1960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EF842B-56C7-C0EF-536E-4676023A8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890" y="2291487"/>
            <a:ext cx="5301197" cy="4007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66D080-80E1-0E5C-405F-8068CC63A3C8}"/>
              </a:ext>
            </a:extLst>
          </p:cNvPr>
          <p:cNvSpPr txBox="1"/>
          <p:nvPr/>
        </p:nvSpPr>
        <p:spPr>
          <a:xfrm>
            <a:off x="1032387" y="1763884"/>
            <a:ext cx="2379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Parámetros</a:t>
            </a:r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: 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A3DB55E-71B4-00D5-887F-19A7C6F8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21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4DBB0E-29D4-1353-6BBA-5D4940614B5D}"/>
                  </a:ext>
                </a:extLst>
              </p:cNvPr>
              <p:cNvSpPr txBox="1"/>
              <p:nvPr/>
            </p:nvSpPr>
            <p:spPr>
              <a:xfrm>
                <a:off x="3047868" y="1763885"/>
                <a:ext cx="46939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𝐷𝑆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𝐷𝐹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4DBB0E-29D4-1353-6BBA-5D4940614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868" y="1763885"/>
                <a:ext cx="469392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FE8C7E1-6EDF-DDF1-2DA0-DF2F2DEB828E}"/>
              </a:ext>
            </a:extLst>
          </p:cNvPr>
          <p:cNvSpPr txBox="1"/>
          <p:nvPr/>
        </p:nvSpPr>
        <p:spPr>
          <a:xfrm>
            <a:off x="35190" y="4652218"/>
            <a:ext cx="3516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Disminuyendo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β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observamos 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dimisnuye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el ruido, y mejora la BER.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71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074"/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Conclusiones  y líneas futuras</a:t>
            </a:r>
          </a:p>
        </p:txBody>
      </p:sp>
      <p:sp>
        <p:nvSpPr>
          <p:cNvPr id="9220" name="Rectangle 3076"/>
          <p:cNvSpPr>
            <a:spLocks noChangeArrowheads="1"/>
          </p:cNvSpPr>
          <p:nvPr/>
        </p:nvSpPr>
        <p:spPr bwMode="auto">
          <a:xfrm>
            <a:off x="2580958" y="2556897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 dirty="0"/>
          </a:p>
        </p:txBody>
      </p:sp>
      <p:sp>
        <p:nvSpPr>
          <p:cNvPr id="9221" name="Rectangle 3137"/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11736-0433-2617-7585-9F96A3615B39}"/>
              </a:ext>
            </a:extLst>
          </p:cNvPr>
          <p:cNvSpPr txBox="1"/>
          <p:nvPr/>
        </p:nvSpPr>
        <p:spPr>
          <a:xfrm>
            <a:off x="421958" y="1472546"/>
            <a:ext cx="4577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Conclusiones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596D1-4E7C-A0CB-366C-BE3826A95399}"/>
              </a:ext>
            </a:extLst>
          </p:cNvPr>
          <p:cNvSpPr txBox="1"/>
          <p:nvPr/>
        </p:nvSpPr>
        <p:spPr>
          <a:xfrm>
            <a:off x="407270" y="2020134"/>
            <a:ext cx="46936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OTFS supera a OFDM en entornos de alta movilidad y canales dispersos (retardo-Doppler), especialmente en SNR moderada.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85041-3B82-D70E-B64E-163CFEF7131E}"/>
              </a:ext>
            </a:extLst>
          </p:cNvPr>
          <p:cNvSpPr txBox="1"/>
          <p:nvPr/>
        </p:nvSpPr>
        <p:spPr>
          <a:xfrm>
            <a:off x="396082" y="3427587"/>
            <a:ext cx="5694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importancia de β en relación al rendimiento.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994F5-9584-1992-A257-D37C40E380C6}"/>
              </a:ext>
            </a:extLst>
          </p:cNvPr>
          <p:cNvSpPr txBox="1"/>
          <p:nvPr/>
        </p:nvSpPr>
        <p:spPr>
          <a:xfrm>
            <a:off x="395923" y="4307587"/>
            <a:ext cx="483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necesidad de continuar utilizando OFDM.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FCF5C-BD39-F473-2778-E530933958D8}"/>
              </a:ext>
            </a:extLst>
          </p:cNvPr>
          <p:cNvSpPr txBox="1"/>
          <p:nvPr/>
        </p:nvSpPr>
        <p:spPr>
          <a:xfrm>
            <a:off x="5232083" y="1465858"/>
            <a:ext cx="4577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Líneas</a:t>
            </a:r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futuras</a:t>
            </a:r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C24DE0-BCB1-FB96-6605-F105F8689595}"/>
              </a:ext>
            </a:extLst>
          </p:cNvPr>
          <p:cNvSpPr/>
          <p:nvPr/>
        </p:nvSpPr>
        <p:spPr>
          <a:xfrm>
            <a:off x="4709652" y="3303169"/>
            <a:ext cx="2824658" cy="13234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8E021B-0C98-0B57-9ACD-1E4B744788AE}"/>
              </a:ext>
            </a:extLst>
          </p:cNvPr>
          <p:cNvSpPr txBox="1"/>
          <p:nvPr/>
        </p:nvSpPr>
        <p:spPr>
          <a:xfrm>
            <a:off x="3868580" y="3496579"/>
            <a:ext cx="4577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Estudiar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tipos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 </a:t>
            </a:r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detección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OTFS</a:t>
            </a:r>
            <a:endParaRPr lang="en-GB" sz="2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DF5BBC-9B45-72BA-D797-0EA190479607}"/>
              </a:ext>
            </a:extLst>
          </p:cNvPr>
          <p:cNvSpPr/>
          <p:nvPr/>
        </p:nvSpPr>
        <p:spPr>
          <a:xfrm>
            <a:off x="6858877" y="2110870"/>
            <a:ext cx="1804433" cy="10732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C7764-007D-20BB-74F7-3B6D2FD2300B}"/>
              </a:ext>
            </a:extLst>
          </p:cNvPr>
          <p:cNvSpPr txBox="1"/>
          <p:nvPr/>
        </p:nvSpPr>
        <p:spPr>
          <a:xfrm>
            <a:off x="5472553" y="2361723"/>
            <a:ext cx="4577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Optimización</a:t>
            </a:r>
            <a:r>
              <a:rPr lang="en-US" sz="18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8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 </a:t>
            </a:r>
            <a:r>
              <a:rPr lang="el-GR" sz="18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β</a:t>
            </a:r>
            <a:endParaRPr lang="en-GB" sz="18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BE892D-62B8-10A8-5898-1F7D38236DE2}"/>
              </a:ext>
            </a:extLst>
          </p:cNvPr>
          <p:cNvSpPr/>
          <p:nvPr/>
        </p:nvSpPr>
        <p:spPr>
          <a:xfrm>
            <a:off x="7255149" y="4920138"/>
            <a:ext cx="1834768" cy="11079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752583-7099-AE74-045B-4F4D8EF691A6}"/>
              </a:ext>
            </a:extLst>
          </p:cNvPr>
          <p:cNvSpPr txBox="1"/>
          <p:nvPr/>
        </p:nvSpPr>
        <p:spPr>
          <a:xfrm>
            <a:off x="6813294" y="5120192"/>
            <a:ext cx="26777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MIMO</a:t>
            </a:r>
            <a:endParaRPr lang="en-GB" sz="2000" dirty="0"/>
          </a:p>
        </p:txBody>
      </p:sp>
      <p:sp>
        <p:nvSpPr>
          <p:cNvPr id="32" name="Flecha: doblada 14">
            <a:extLst>
              <a:ext uri="{FF2B5EF4-FFF2-40B4-BE49-F238E27FC236}">
                <a16:creationId xmlns:a16="http://schemas.microsoft.com/office/drawing/2014/main" id="{1353ECB2-6E8F-661F-266B-4F7A25F29C36}"/>
              </a:ext>
            </a:extLst>
          </p:cNvPr>
          <p:cNvSpPr/>
          <p:nvPr/>
        </p:nvSpPr>
        <p:spPr>
          <a:xfrm rot="5400000" flipV="1">
            <a:off x="5880039" y="2487102"/>
            <a:ext cx="702889" cy="733444"/>
          </a:xfrm>
          <a:prstGeom prst="ben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3" name="Flecha: doblada 14">
            <a:extLst>
              <a:ext uri="{FF2B5EF4-FFF2-40B4-BE49-F238E27FC236}">
                <a16:creationId xmlns:a16="http://schemas.microsoft.com/office/drawing/2014/main" id="{D9C154EA-B755-C1EF-2FF8-528A1B1FA67A}"/>
              </a:ext>
            </a:extLst>
          </p:cNvPr>
          <p:cNvSpPr/>
          <p:nvPr/>
        </p:nvSpPr>
        <p:spPr>
          <a:xfrm rot="5400000">
            <a:off x="7827660" y="3952707"/>
            <a:ext cx="769439" cy="755848"/>
          </a:xfrm>
          <a:prstGeom prst="ben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C8200FC-7C13-C465-1359-C92482C3D7BD}"/>
              </a:ext>
            </a:extLst>
          </p:cNvPr>
          <p:cNvSpPr/>
          <p:nvPr/>
        </p:nvSpPr>
        <p:spPr>
          <a:xfrm rot="5400000">
            <a:off x="6137771" y="4948490"/>
            <a:ext cx="430992" cy="105129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0FE8A89-0ADA-FCB6-64B6-1073E9FF625A}"/>
              </a:ext>
            </a:extLst>
          </p:cNvPr>
          <p:cNvSpPr/>
          <p:nvPr/>
        </p:nvSpPr>
        <p:spPr>
          <a:xfrm>
            <a:off x="3528717" y="4977625"/>
            <a:ext cx="2037478" cy="11079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B72B0E-F6C7-A195-5AF2-4B29346E7D61}"/>
              </a:ext>
            </a:extLst>
          </p:cNvPr>
          <p:cNvSpPr txBox="1"/>
          <p:nvPr/>
        </p:nvSpPr>
        <p:spPr>
          <a:xfrm>
            <a:off x="2800851" y="5207362"/>
            <a:ext cx="34932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Codificación</a:t>
            </a:r>
            <a:r>
              <a:rPr lang="en-US" sz="20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000" b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Avanzada</a:t>
            </a:r>
            <a:endParaRPr lang="en-GB" sz="2000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D20DAC9B-1C1F-69F9-3635-D8A06920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22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/>
      <p:bldP spid="20" grpId="0" animBg="1"/>
      <p:bldP spid="22" grpId="0"/>
      <p:bldP spid="29" grpId="0" animBg="1"/>
      <p:bldP spid="30" grpId="0"/>
      <p:bldP spid="32" grpId="0" animBg="1"/>
      <p:bldP spid="33" grpId="0" animBg="1"/>
      <p:bldP spid="35" grpId="0" animBg="1"/>
      <p:bldP spid="36" grpId="0" animBg="1"/>
      <p:bldP spid="37" grpId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15641</TotalTime>
  <Words>771</Words>
  <Application>Microsoft Office PowerPoint</Application>
  <PresentationFormat>On-screen Show (4:3)</PresentationFormat>
  <Paragraphs>237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Arial Narrow</vt:lpstr>
      <vt:lpstr>Calibri</vt:lpstr>
      <vt:lpstr>Cambria Math</vt:lpstr>
      <vt:lpstr>Times New Roman</vt:lpstr>
      <vt:lpstr>Diseño predeterminado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de Málaga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Presentación TFE ETSIT 2015</dc:title>
  <dc:creator>ETSIT UMA</dc:creator>
  <cp:lastModifiedBy>juliomacias12.jm@gmail.com</cp:lastModifiedBy>
  <cp:revision>120</cp:revision>
  <dcterms:created xsi:type="dcterms:W3CDTF">2004-11-08T12:44:10Z</dcterms:created>
  <dcterms:modified xsi:type="dcterms:W3CDTF">2025-12-02T16:41:50Z</dcterms:modified>
</cp:coreProperties>
</file>